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69" name="Google Shape;137;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0"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71" name="Google Shape;140;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2"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73"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228600" y="228600"/>
            <a:ext cx="8686800" cy="780840"/>
          </a:xfrm>
          <a:prstGeom prst="rect">
            <a:avLst/>
          </a:prstGeom>
          <a:noFill/>
          <a:ln w="0">
            <a:noFill/>
          </a:ln>
        </p:spPr>
        <p:txBody>
          <a:bodyPr lIns="91440" tIns="91440" rIns="91440" bIns="91440" anchor="t">
            <a:noAutofit/>
          </a:bodyPr>
          <a:lstStyle/>
          <a:p>
            <a:pPr indent="0">
              <a:buNone/>
            </a:pPr>
            <a:r>
              <a:rPr lang="fr-FR" sz="4700" b="0" u="none" strike="noStrike">
                <a:solidFill>
                  <a:schemeClr val="dk1"/>
                </a:solidFill>
                <a:effectLst/>
                <a:uFillTx/>
                <a:latin typeface="Arial"/>
              </a:rPr>
              <a:t>Click to edit the title text format</a:t>
            </a:r>
          </a:p>
        </p:txBody>
      </p:sp>
      <p:sp>
        <p:nvSpPr>
          <p:cNvPr id="4" name="PlaceHolder 2"/>
          <p:cNvSpPr>
            <a:spLocks noGrp="1"/>
          </p:cNvSpPr>
          <p:nvPr>
            <p:ph type="sldNum" idx="1"/>
          </p:nvPr>
        </p:nvSpPr>
        <p:spPr>
          <a:xfrm>
            <a:off x="7829640" y="4521240"/>
            <a:ext cx="1085760" cy="393120"/>
          </a:xfrm>
          <a:prstGeom prst="rect">
            <a:avLst/>
          </a:prstGeom>
          <a:noFill/>
          <a:ln w="0">
            <a:noFill/>
          </a:ln>
        </p:spPr>
        <p:txBody>
          <a:bodyPr lIns="91440" tIns="91440" rIns="91440" bIns="91440" anchor="b">
            <a:noAutofit/>
          </a:bodyPr>
          <a:lstStyle>
            <a:lvl1pPr indent="0" defTabSz="914400">
              <a:lnSpc>
                <a:spcPct val="100000"/>
              </a:lnSpc>
              <a:buNone/>
              <a:tabLst>
                <a:tab pos="0" algn="l"/>
              </a:tabLst>
              <a:defRPr lang="en" sz="800" b="1" u="none" strike="noStrike">
                <a:solidFill>
                  <a:schemeClr val="dk1"/>
                </a:solidFill>
                <a:effectLst/>
                <a:uFillTx/>
                <a:latin typeface="Geist Mono"/>
                <a:ea typeface="Geist Mono"/>
              </a:defRPr>
            </a:lvl1pPr>
          </a:lstStyle>
          <a:p>
            <a:pPr indent="0" defTabSz="914400">
              <a:lnSpc>
                <a:spcPct val="100000"/>
              </a:lnSpc>
              <a:buNone/>
              <a:tabLst>
                <a:tab pos="0" algn="l"/>
              </a:tabLst>
            </a:pPr>
            <a:fld id="{35FBD03E-E4F1-483D-8A4A-E49777F10EF0}" type="slidenum">
              <a:rPr lang="en" sz="800" b="1" u="none" strike="noStrike">
                <a:solidFill>
                  <a:schemeClr val="dk1"/>
                </a:solidFill>
                <a:effectLst/>
                <a:uFillTx/>
                <a:latin typeface="Geist Mono"/>
                <a:ea typeface="Geist Mono"/>
              </a:rPr>
              <a:t>‹#›</a:t>
            </a:fld>
            <a:endParaRPr lang="en-US" sz="800" b="0" u="none" strike="noStrike">
              <a:solidFill>
                <a:srgbClr val="000000"/>
              </a:solidFill>
              <a:effectLst/>
              <a:uFillTx/>
              <a:latin typeface="OpenSymbol"/>
            </a:endParaRPr>
          </a:p>
        </p:txBody>
      </p:sp>
      <p:sp>
        <p:nvSpPr>
          <p:cNvPr id="2" name="PlaceHolder 3"/>
          <p:cNvSpPr>
            <a:spLocks noGrp="1"/>
          </p:cNvSpPr>
          <p:nvPr>
            <p:ph type="body"/>
          </p:nvPr>
        </p:nvSpPr>
        <p:spPr>
          <a:xfrm>
            <a:off x="3495960" y="1798560"/>
            <a:ext cx="2161440" cy="301212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3035007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ONE_COLUMN_TEXT_1">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28600" y="210240"/>
            <a:ext cx="4539960" cy="10933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23" name="PlaceHolder 2"/>
          <p:cNvSpPr>
            <a:spLocks noGrp="1"/>
          </p:cNvSpPr>
          <p:nvPr>
            <p:ph type="body"/>
          </p:nvPr>
        </p:nvSpPr>
        <p:spPr>
          <a:xfrm>
            <a:off x="6743880" y="343080"/>
            <a:ext cx="2090520" cy="300960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4" name="PlaceHolder 3"/>
          <p:cNvSpPr>
            <a:spLocks noGrp="1"/>
          </p:cNvSpPr>
          <p:nvPr>
            <p:ph type="sldNum" idx="5"/>
          </p:nvPr>
        </p:nvSpPr>
        <p:spPr>
          <a:xfrm>
            <a:off x="7829640" y="4521240"/>
            <a:ext cx="1085760" cy="393120"/>
          </a:xfrm>
          <a:prstGeom prst="rect">
            <a:avLst/>
          </a:prstGeom>
          <a:noFill/>
          <a:ln w="0">
            <a:noFill/>
          </a:ln>
        </p:spPr>
        <p:txBody>
          <a:bodyPr lIns="91440" tIns="91440" rIns="91440" bIns="91440" anchor="b">
            <a:noAutofit/>
          </a:bodyPr>
          <a:lstStyle>
            <a:lvl1pPr indent="0" defTabSz="914400">
              <a:lnSpc>
                <a:spcPct val="100000"/>
              </a:lnSpc>
              <a:buNone/>
              <a:tabLst>
                <a:tab pos="0" algn="l"/>
              </a:tabLst>
              <a:defRPr lang="en" sz="800" b="1" u="none" strike="noStrike">
                <a:solidFill>
                  <a:schemeClr val="dk1"/>
                </a:solidFill>
                <a:effectLst/>
                <a:uFillTx/>
                <a:latin typeface="Geist Mono"/>
                <a:ea typeface="Geist Mono"/>
              </a:defRPr>
            </a:lvl1pPr>
          </a:lstStyle>
          <a:p>
            <a:pPr indent="0" defTabSz="914400">
              <a:lnSpc>
                <a:spcPct val="100000"/>
              </a:lnSpc>
              <a:buNone/>
              <a:tabLst>
                <a:tab pos="0" algn="l"/>
              </a:tabLst>
            </a:pPr>
            <a:fld id="{2C078B4B-0601-40FB-89B9-A0AE7424035F}" type="slidenum">
              <a:rPr lang="en" sz="800" b="1" u="none" strike="noStrike">
                <a:solidFill>
                  <a:schemeClr val="dk1"/>
                </a:solidFill>
                <a:effectLst/>
                <a:uFillTx/>
                <a:latin typeface="Geist Mono"/>
                <a:ea typeface="Geist Mono"/>
              </a:rPr>
              <a:t>‹#›</a:t>
            </a:fld>
            <a:endParaRPr lang="en-US" sz="800" b="0" u="none" strike="noStrike">
              <a:solidFill>
                <a:srgbClr val="000000"/>
              </a:solidFill>
              <a:effectLst/>
              <a:uFillTx/>
              <a:latin typeface="OpenSymbol"/>
            </a:endParaRPr>
          </a:p>
        </p:txBody>
      </p:sp>
    </p:spTree>
    <p:extLst>
      <p:ext uri="{BB962C8B-B14F-4D97-AF65-F5344CB8AC3E}">
        <p14:creationId xmlns:p14="http://schemas.microsoft.com/office/powerpoint/2010/main" val="1861406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SECTION_HEADER">
    <p:bg>
      <p:bgPr>
        <a:solidFill>
          <a:schemeClr val="lt1"/>
        </a:solidFill>
        <a:effectLst/>
      </p:bgPr>
    </p:bg>
    <p:spTree>
      <p:nvGrpSpPr>
        <p:cNvPr id="1" name=""/>
        <p:cNvGrpSpPr/>
        <p:nvPr/>
      </p:nvGrpSpPr>
      <p:grpSpPr>
        <a:xfrm>
          <a:off x="0" y="0"/>
          <a:ext cx="0" cy="0"/>
          <a:chOff x="0" y="0"/>
          <a:chExt cx="0" cy="0"/>
        </a:xfrm>
      </p:grpSpPr>
      <p:sp>
        <p:nvSpPr>
          <p:cNvPr id="42" name="PlaceHolder 1"/>
          <p:cNvSpPr>
            <a:spLocks noGrp="1"/>
          </p:cNvSpPr>
          <p:nvPr>
            <p:ph type="body"/>
          </p:nvPr>
        </p:nvSpPr>
        <p:spPr>
          <a:xfrm>
            <a:off x="-1008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3" name="PlaceHolder 2"/>
          <p:cNvSpPr>
            <a:spLocks noGrp="1"/>
          </p:cNvSpPr>
          <p:nvPr>
            <p:ph type="title"/>
          </p:nvPr>
        </p:nvSpPr>
        <p:spPr>
          <a:xfrm>
            <a:off x="5657760" y="2959560"/>
            <a:ext cx="3257280" cy="1561320"/>
          </a:xfrm>
          <a:prstGeom prst="rect">
            <a:avLst/>
          </a:prstGeom>
          <a:noFill/>
          <a:ln w="0">
            <a:noFill/>
          </a:ln>
        </p:spPr>
        <p:txBody>
          <a:bodyPr lIns="91440" tIns="91440" rIns="91440" bIns="91440" anchor="b">
            <a:noAutofit/>
          </a:bodyPr>
          <a:lstStyle/>
          <a:p>
            <a:pPr indent="0">
              <a:buNone/>
            </a:pPr>
            <a:r>
              <a:rPr lang="fr-FR" sz="2500" b="0" u="none" strike="noStrike">
                <a:solidFill>
                  <a:schemeClr val="dk1"/>
                </a:solidFill>
                <a:effectLst/>
                <a:uFillTx/>
                <a:latin typeface="Arial"/>
              </a:rPr>
              <a:t>Click to edit the title text format</a:t>
            </a:r>
          </a:p>
        </p:txBody>
      </p:sp>
      <p:sp>
        <p:nvSpPr>
          <p:cNvPr id="44" name="PlaceHolder 3"/>
          <p:cNvSpPr>
            <a:spLocks noGrp="1"/>
          </p:cNvSpPr>
          <p:nvPr>
            <p:ph type="title"/>
          </p:nvPr>
        </p:nvSpPr>
        <p:spPr>
          <a:xfrm>
            <a:off x="4572000" y="3740400"/>
            <a:ext cx="1085760" cy="760320"/>
          </a:xfrm>
          <a:prstGeom prst="rect">
            <a:avLst/>
          </a:prstGeom>
          <a:noFill/>
          <a:ln w="0">
            <a:noFill/>
          </a:ln>
        </p:spPr>
        <p:txBody>
          <a:bodyPr lIns="91440" tIns="91440" rIns="91440" bIns="91440" anchor="b">
            <a:noAutofit/>
          </a:bodyPr>
          <a:lstStyle/>
          <a:p>
            <a:pPr indent="0">
              <a:lnSpc>
                <a:spcPct val="100000"/>
              </a:lnSpc>
              <a:buNone/>
            </a:pPr>
            <a:r>
              <a:rPr lang="fr-FR" sz="2500" b="0" u="none" strike="noStrike">
                <a:solidFill>
                  <a:schemeClr val="dk2"/>
                </a:solidFill>
                <a:effectLst/>
                <a:uFillTx/>
                <a:latin typeface="Geist Light"/>
                <a:ea typeface="Geist Light"/>
              </a:rPr>
              <a:t>xx%</a:t>
            </a:r>
            <a:endParaRPr lang="fr-FR" sz="2500" b="0" u="none" strike="noStrike">
              <a:solidFill>
                <a:schemeClr val="dk1"/>
              </a:solidFill>
              <a:effectLst/>
              <a:uFillTx/>
              <a:latin typeface="Arial"/>
            </a:endParaRPr>
          </a:p>
        </p:txBody>
      </p:sp>
      <p:sp>
        <p:nvSpPr>
          <p:cNvPr id="45" name="PlaceHolder 4"/>
          <p:cNvSpPr>
            <a:spLocks noGrp="1"/>
          </p:cNvSpPr>
          <p:nvPr>
            <p:ph type="sldNum" idx="10"/>
          </p:nvPr>
        </p:nvSpPr>
        <p:spPr>
          <a:xfrm>
            <a:off x="7829640" y="4521240"/>
            <a:ext cx="1085760" cy="393120"/>
          </a:xfrm>
          <a:prstGeom prst="rect">
            <a:avLst/>
          </a:prstGeom>
          <a:noFill/>
          <a:ln w="0">
            <a:noFill/>
          </a:ln>
        </p:spPr>
        <p:txBody>
          <a:bodyPr lIns="91440" tIns="91440" rIns="91440" bIns="91440" anchor="b">
            <a:noAutofit/>
          </a:bodyPr>
          <a:lstStyle>
            <a:lvl1pPr indent="0" defTabSz="914400">
              <a:lnSpc>
                <a:spcPct val="100000"/>
              </a:lnSpc>
              <a:buNone/>
              <a:tabLst>
                <a:tab pos="0" algn="l"/>
              </a:tabLst>
              <a:defRPr lang="en" sz="800" b="1" u="none" strike="noStrike">
                <a:solidFill>
                  <a:schemeClr val="dk1"/>
                </a:solidFill>
                <a:effectLst/>
                <a:uFillTx/>
                <a:latin typeface="Geist Mono"/>
                <a:ea typeface="Geist Mono"/>
              </a:defRPr>
            </a:lvl1pPr>
          </a:lstStyle>
          <a:p>
            <a:pPr indent="0" defTabSz="914400">
              <a:lnSpc>
                <a:spcPct val="100000"/>
              </a:lnSpc>
              <a:buNone/>
              <a:tabLst>
                <a:tab pos="0" algn="l"/>
              </a:tabLst>
            </a:pPr>
            <a:fld id="{5498D218-9350-42B3-8950-A842A3454206}" type="slidenum">
              <a:rPr lang="en" sz="800" b="1" u="none" strike="noStrike">
                <a:solidFill>
                  <a:schemeClr val="dk1"/>
                </a:solidFill>
                <a:effectLst/>
                <a:uFillTx/>
                <a:latin typeface="Geist Mono"/>
                <a:ea typeface="Geist Mono"/>
              </a:rPr>
              <a:t>‹#›</a:t>
            </a:fld>
            <a:endParaRPr lang="en-US" sz="800" b="0" u="none" strike="noStrike">
              <a:solidFill>
                <a:srgbClr val="000000"/>
              </a:solidFill>
              <a:effectLst/>
              <a:uFillTx/>
              <a:latin typeface="OpenSymbol"/>
            </a:endParaRPr>
          </a:p>
        </p:txBody>
      </p:sp>
    </p:spTree>
    <p:extLst>
      <p:ext uri="{BB962C8B-B14F-4D97-AF65-F5344CB8AC3E}">
        <p14:creationId xmlns:p14="http://schemas.microsoft.com/office/powerpoint/2010/main" val="919514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Google Shape;147;p27"/>
          <p:cNvPicPr/>
          <p:nvPr/>
        </p:nvPicPr>
        <p:blipFill>
          <a:blip r:embed="rId2"/>
          <a:srcRect t="9466" b="12441"/>
          <a:stretch/>
        </p:blipFill>
        <p:spPr>
          <a:xfrm>
            <a:off x="3495960" y="1798560"/>
            <a:ext cx="2161440" cy="3011760"/>
          </a:xfrm>
          <a:prstGeom prst="rect">
            <a:avLst/>
          </a:prstGeom>
          <a:noFill/>
          <a:ln w="0">
            <a:noFill/>
          </a:ln>
        </p:spPr>
      </p:pic>
      <p:sp>
        <p:nvSpPr>
          <p:cNvPr id="77" name="PlaceHolder 3"/>
          <p:cNvSpPr>
            <a:spLocks noGrp="1"/>
          </p:cNvSpPr>
          <p:nvPr>
            <p:ph type="sldNum" idx="1"/>
          </p:nvPr>
        </p:nvSpPr>
        <p:spPr>
          <a:prstGeom prst="rect">
            <a:avLst/>
          </a:prstGeom>
          <a:noFill/>
          <a:ln w="0">
            <a:noFill/>
          </a:ln>
        </p:spPr>
        <p:txBody>
          <a:bodyPr lIns="91440" tIns="91440" rIns="91440" bIns="91440" anchor="b">
            <a:normAutofit/>
          </a:bodyPr>
          <a:lstStyle>
            <a:lvl1pPr indent="0" defTabSz="914400">
              <a:lnSpc>
                <a:spcPct val="100000"/>
              </a:lnSpc>
              <a:buNone/>
              <a:tabLst>
                <a:tab pos="0" algn="l"/>
              </a:tabLst>
              <a:defRPr lang="fr-FR" sz="800" b="1" u="none" strike="noStrike">
                <a:solidFill>
                  <a:schemeClr val="dk1"/>
                </a:solidFill>
                <a:effectLst/>
                <a:uFillTx/>
                <a:latin typeface="Geist Mono"/>
                <a:ea typeface="Geist Mono"/>
              </a:defRPr>
            </a:lvl1pPr>
          </a:lstStyle>
          <a:p>
            <a:pPr indent="0" defTabSz="914400">
              <a:lnSpc>
                <a:spcPct val="100000"/>
              </a:lnSpc>
              <a:buNone/>
              <a:tabLst>
                <a:tab pos="0" algn="l"/>
              </a:tabLst>
            </a:pPr>
            <a:fld id="{8F1713A0-CA4C-43C1-8800-ED581380068D}" type="slidenum">
              <a:rPr lang="fr-FR" sz="800" b="1" u="none" strike="noStrike">
                <a:solidFill>
                  <a:schemeClr val="dk1"/>
                </a:solidFill>
                <a:effectLst/>
                <a:uFillTx/>
                <a:latin typeface="Geist Mono"/>
                <a:ea typeface="Geist Mono"/>
              </a:rPr>
              <a:t>1</a:t>
            </a:fld>
            <a:endParaRPr lang="en-US" sz="800" b="0" u="none" strike="noStrike">
              <a:solidFill>
                <a:srgbClr val="000000"/>
              </a:solidFill>
              <a:effectLst/>
              <a:uFillTx/>
              <a:latin typeface="OpenSymbol"/>
            </a:endParaRPr>
          </a:p>
        </p:txBody>
      </p:sp>
      <p:sp>
        <p:nvSpPr>
          <p:cNvPr id="78" name="Google Shape;151;p27"/>
          <p:cNvSpPr/>
          <p:nvPr/>
        </p:nvSpPr>
        <p:spPr>
          <a:xfrm>
            <a:off x="304920" y="4695840"/>
            <a:ext cx="1018800" cy="12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2500"/>
          </a:bodyPr>
          <a:lstStyle/>
          <a:p>
            <a:pPr defTabSz="914400">
              <a:lnSpc>
                <a:spcPct val="100000"/>
              </a:lnSpc>
              <a:tabLst>
                <a:tab pos="0" algn="l"/>
              </a:tabLst>
            </a:pPr>
            <a:r>
              <a:rPr lang="fr-FR" sz="800" b="0" u="none" strike="noStrike" dirty="0">
                <a:solidFill>
                  <a:schemeClr val="dk1"/>
                </a:solidFill>
                <a:effectLst/>
                <a:uFillTx/>
                <a:latin typeface="Arial"/>
              </a:rPr>
              <a:t>Présenté par Yves Kate</a:t>
            </a:r>
            <a:endParaRPr lang="en-US" sz="800" b="0" u="none" strike="noStrike" dirty="0">
              <a:solidFill>
                <a:srgbClr val="000000"/>
              </a:solidFill>
              <a:effectLst/>
              <a:uFillTx/>
              <a:latin typeface="OpenSymbol"/>
            </a:endParaRPr>
          </a:p>
        </p:txBody>
      </p:sp>
      <p:sp>
        <p:nvSpPr>
          <p:cNvPr id="75" name="PlaceHolder 1"/>
          <p:cNvSpPr>
            <a:spLocks noGrp="1"/>
          </p:cNvSpPr>
          <p:nvPr>
            <p:ph type="title"/>
          </p:nvPr>
        </p:nvSpPr>
        <p:spPr>
          <a:xfrm>
            <a:off x="228600" y="228600"/>
            <a:ext cx="8686440" cy="589156"/>
          </a:xfrm>
          <a:prstGeom prst="rect">
            <a:avLst/>
          </a:prstGeom>
          <a:noFill/>
          <a:ln w="0">
            <a:noFill/>
          </a:ln>
        </p:spPr>
        <p:txBody>
          <a:bodyPr lIns="91440" tIns="91440" rIns="91440" bIns="91440" anchor="t">
            <a:noAutofit/>
          </a:bodyPr>
          <a:lstStyle/>
          <a:p>
            <a:pPr algn="ctr">
              <a:lnSpc>
                <a:spcPct val="100000"/>
              </a:lnSpc>
              <a:tabLst>
                <a:tab pos="0" algn="l"/>
              </a:tabLst>
            </a:pPr>
            <a:r>
              <a:rPr lang="en-US" sz="2300" b="0" u="none" strike="noStrike" dirty="0">
                <a:solidFill>
                  <a:schemeClr val="dk1"/>
                </a:solidFill>
                <a:effectLst/>
                <a:uFillTx/>
                <a:latin typeface="Geist"/>
                <a:ea typeface="Geist"/>
              </a:rPr>
              <a:t>Application du K-means </a:t>
            </a:r>
            <a:r>
              <a:rPr lang="en-US" sz="2300" b="0" u="none" strike="noStrike" dirty="0" err="1">
                <a:solidFill>
                  <a:schemeClr val="dk1"/>
                </a:solidFill>
                <a:effectLst/>
                <a:uFillTx/>
                <a:latin typeface="Geist"/>
                <a:ea typeface="Geist"/>
              </a:rPr>
              <a:t>comme</a:t>
            </a:r>
            <a:r>
              <a:rPr lang="en-US" sz="2300" b="0" u="none" strike="noStrike" dirty="0">
                <a:solidFill>
                  <a:schemeClr val="dk1"/>
                </a:solidFill>
                <a:effectLst/>
                <a:uFillTx/>
                <a:latin typeface="Geist"/>
                <a:ea typeface="Geist"/>
              </a:rPr>
              <a:t> moyen de classification</a:t>
            </a:r>
            <a:endParaRPr lang="en-US" sz="2300" b="0" u="none" strike="noStrike" dirty="0">
              <a:solidFill>
                <a:srgbClr val="000000"/>
              </a:solidFill>
              <a:effectLst/>
              <a:uFillTx/>
              <a:latin typeface="OpenSymbol"/>
            </a:endParaRPr>
          </a:p>
        </p:txBody>
      </p:sp>
      <p:sp>
        <p:nvSpPr>
          <p:cNvPr id="2" name="TextBox 1">
            <a:extLst>
              <a:ext uri="{FF2B5EF4-FFF2-40B4-BE49-F238E27FC236}">
                <a16:creationId xmlns:a16="http://schemas.microsoft.com/office/drawing/2014/main" id="{D3EBEB3F-F2B3-F488-A458-80C93F349DCA}"/>
              </a:ext>
            </a:extLst>
          </p:cNvPr>
          <p:cNvSpPr txBox="1"/>
          <p:nvPr/>
        </p:nvSpPr>
        <p:spPr>
          <a:xfrm>
            <a:off x="2717000" y="817756"/>
            <a:ext cx="3709639" cy="646331"/>
          </a:xfrm>
          <a:prstGeom prst="rect">
            <a:avLst/>
          </a:prstGeom>
          <a:noFill/>
        </p:spPr>
        <p:txBody>
          <a:bodyPr wrap="square" rtlCol="0">
            <a:spAutoFit/>
          </a:bodyPr>
          <a:lstStyle/>
          <a:p>
            <a:pPr algn="ctr"/>
            <a:r>
              <a:rPr lang="fr-FR" dirty="0"/>
              <a:t>Cas d'usage de </a:t>
            </a:r>
            <a:r>
              <a:rPr lang="fr-FR" dirty="0" err="1"/>
              <a:t>cartoonisation</a:t>
            </a:r>
            <a:r>
              <a:rPr lang="fr-FR" dirty="0"/>
              <a:t> d'une image.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2"/>
          <p:cNvSpPr>
            <a:spLocks noGrp="1"/>
          </p:cNvSpPr>
          <p:nvPr>
            <p:ph type="body"/>
          </p:nvPr>
        </p:nvSpPr>
        <p:spPr>
          <a:xfrm>
            <a:off x="1314360" y="2571840"/>
            <a:ext cx="4343040" cy="2342880"/>
          </a:xfrm>
          <a:prstGeom prst="rect">
            <a:avLst/>
          </a:prstGeom>
          <a:noFill/>
          <a:ln w="0">
            <a:noFill/>
          </a:ln>
        </p:spPr>
        <p:txBody>
          <a:bodyPr lIns="91440" tIns="91440" rIns="91440" bIns="91440" anchor="b">
            <a:normAutofit lnSpcReduction="9999"/>
          </a:bodyPr>
          <a:lstStyle/>
          <a:p>
            <a:pPr indent="0" algn="just">
              <a:lnSpc>
                <a:spcPct val="150000"/>
              </a:lnSpc>
              <a:buNone/>
              <a:tabLst>
                <a:tab pos="0" algn="l"/>
              </a:tabLst>
            </a:pPr>
            <a:r>
              <a:rPr lang="en-US" sz="1200" b="0" u="none" strike="noStrike">
                <a:solidFill>
                  <a:schemeClr val="dk1"/>
                </a:solidFill>
                <a:effectLst/>
                <a:uFillTx/>
                <a:latin typeface="Geist"/>
                <a:ea typeface="Geist"/>
              </a:rPr>
              <a:t>Ce projet vise à transformer une image réaliste en une version stylisée appelée </a:t>
            </a:r>
            <a:r>
              <a:rPr lang="en-US" sz="1200" b="0" i="1" u="none" strike="noStrike">
                <a:solidFill>
                  <a:schemeClr val="dk1"/>
                </a:solidFill>
                <a:effectLst/>
                <a:uFillTx/>
                <a:latin typeface="Geist"/>
                <a:ea typeface="Geist"/>
              </a:rPr>
              <a:t>cartoonisation</a:t>
            </a:r>
            <a:r>
              <a:rPr lang="en-US" sz="1200" b="0" u="none" strike="noStrike">
                <a:solidFill>
                  <a:schemeClr val="dk1"/>
                </a:solidFill>
                <a:effectLst/>
                <a:uFillTx/>
                <a:latin typeface="Geist"/>
                <a:ea typeface="Geist"/>
              </a:rPr>
              <a:t>. On utilise des méthodes en vision par ordinateur comme la segmentation par K-means pour simplifier les détails. C’est une approche ludique pour donner un effet dessin animé en jouant sur les couleurs et contours. </a:t>
            </a:r>
            <a:endParaRPr lang="en-US" sz="1200" b="0" u="none" strike="noStrike">
              <a:solidFill>
                <a:srgbClr val="000000"/>
              </a:solidFill>
              <a:effectLst/>
              <a:uFillTx/>
              <a:latin typeface="OpenSymbol"/>
            </a:endParaRPr>
          </a:p>
          <a:p>
            <a:pPr indent="0" algn="just">
              <a:lnSpc>
                <a:spcPct val="150000"/>
              </a:lnSpc>
              <a:buNone/>
              <a:tabLst>
                <a:tab pos="0" algn="l"/>
              </a:tabLst>
            </a:pPr>
            <a:endParaRPr lang="en-US" sz="1200" b="0" u="none" strike="noStrike">
              <a:solidFill>
                <a:srgbClr val="000000"/>
              </a:solidFill>
              <a:effectLst/>
              <a:uFillTx/>
              <a:latin typeface="OpenSymbol"/>
            </a:endParaRPr>
          </a:p>
          <a:p>
            <a:pPr indent="0" algn="just">
              <a:lnSpc>
                <a:spcPct val="150000"/>
              </a:lnSpc>
              <a:buNone/>
              <a:tabLst>
                <a:tab pos="0" algn="l"/>
              </a:tabLst>
            </a:pPr>
            <a:r>
              <a:rPr lang="en-US" sz="1200" b="0" u="none" strike="noStrike">
                <a:solidFill>
                  <a:schemeClr val="dk1"/>
                </a:solidFill>
                <a:effectLst/>
                <a:uFillTx/>
                <a:latin typeface="Geist"/>
                <a:ea typeface="Geist"/>
              </a:rPr>
              <a:t>L’objectif est de rendre les images plus graphiques tout en conservant l’essentiel de la structure visuelle.</a:t>
            </a:r>
            <a:endParaRPr lang="en-US" sz="1200" b="0" u="none" strike="noStrike">
              <a:solidFill>
                <a:srgbClr val="000000"/>
              </a:solidFill>
              <a:effectLst/>
              <a:uFillTx/>
              <a:latin typeface="OpenSymbol"/>
            </a:endParaRPr>
          </a:p>
        </p:txBody>
      </p:sp>
      <p:sp>
        <p:nvSpPr>
          <p:cNvPr id="80" name="PlaceHolder 1"/>
          <p:cNvSpPr>
            <a:spLocks noGrp="1"/>
          </p:cNvSpPr>
          <p:nvPr>
            <p:ph type="title"/>
          </p:nvPr>
        </p:nvSpPr>
        <p:spPr>
          <a:xfrm>
            <a:off x="228600" y="209520"/>
            <a:ext cx="4543200" cy="10951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000" b="0" u="none" strike="noStrike">
                <a:solidFill>
                  <a:schemeClr val="dk1"/>
                </a:solidFill>
                <a:effectLst/>
                <a:uFillTx/>
                <a:latin typeface="Geist"/>
                <a:ea typeface="Geist"/>
              </a:rPr>
              <a:t>Introduction</a:t>
            </a:r>
            <a:endParaRPr lang="fr-FR" sz="2000" b="0" u="none" strike="noStrike">
              <a:solidFill>
                <a:schemeClr val="dk1"/>
              </a:solidFill>
              <a:effectLst/>
              <a:uFillTx/>
              <a:latin typeface="Arial"/>
            </a:endParaRPr>
          </a:p>
        </p:txBody>
      </p:sp>
      <p:sp>
        <p:nvSpPr>
          <p:cNvPr id="83" name="PlaceHolder 3"/>
          <p:cNvSpPr>
            <a:spLocks noGrp="1"/>
          </p:cNvSpPr>
          <p:nvPr>
            <p:ph type="sldNum" idx="5"/>
          </p:nvPr>
        </p:nvSpPr>
        <p:spPr>
          <a:prstGeom prst="rect">
            <a:avLst/>
          </a:prstGeom>
          <a:noFill/>
          <a:ln w="0">
            <a:noFill/>
          </a:ln>
        </p:spPr>
        <p:txBody>
          <a:bodyPr lIns="91440" tIns="91440" rIns="91440" bIns="91440" anchor="b">
            <a:spAutoFit/>
          </a:bodyPr>
          <a:lstStyle>
            <a:lvl1pPr indent="0" defTabSz="914400">
              <a:lnSpc>
                <a:spcPct val="100000"/>
              </a:lnSpc>
              <a:buNone/>
              <a:tabLst>
                <a:tab pos="0" algn="l"/>
              </a:tabLst>
              <a:defRPr lang="fr-FR" sz="800" b="1" u="none" strike="noStrike">
                <a:solidFill>
                  <a:schemeClr val="dk1"/>
                </a:solidFill>
                <a:effectLst/>
                <a:uFillTx/>
                <a:latin typeface="Geist Mono"/>
                <a:ea typeface="Geist Mono"/>
              </a:defRPr>
            </a:lvl1pPr>
          </a:lstStyle>
          <a:p>
            <a:pPr indent="0" defTabSz="914400">
              <a:lnSpc>
                <a:spcPct val="100000"/>
              </a:lnSpc>
              <a:buNone/>
              <a:tabLst>
                <a:tab pos="0" algn="l"/>
              </a:tabLst>
            </a:pPr>
            <a:fld id="{FCEFA389-5D57-4C2E-BD54-66AA8138D4F6}" type="slidenum">
              <a:rPr lang="fr-FR" sz="800" b="1" u="none" strike="noStrike">
                <a:solidFill>
                  <a:schemeClr val="dk1"/>
                </a:solidFill>
                <a:effectLst/>
                <a:uFillTx/>
                <a:latin typeface="Geist Mono"/>
                <a:ea typeface="Geist Mono"/>
              </a:rPr>
              <a:t>2</a:t>
            </a:fld>
            <a:endParaRPr lang="en-US" sz="800" b="0" u="none" strike="noStrike">
              <a:solidFill>
                <a:srgbClr val="000000"/>
              </a:solidFill>
              <a:effectLst/>
              <a:uFillTx/>
              <a:latin typeface="OpenSymbol"/>
            </a:endParaRPr>
          </a:p>
        </p:txBody>
      </p:sp>
      <p:pic>
        <p:nvPicPr>
          <p:cNvPr id="82" name="Google Shape;251;p33"/>
          <p:cNvPicPr/>
          <p:nvPr/>
        </p:nvPicPr>
        <p:blipFill>
          <a:blip r:embed="rId2"/>
          <a:srcRect t="3814" r="3724" b="3804"/>
          <a:stretch/>
        </p:blipFill>
        <p:spPr>
          <a:xfrm>
            <a:off x="6743880" y="343080"/>
            <a:ext cx="2090520" cy="300960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85" name="Rectangle 84"/>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defTabSz="914400">
              <a:lnSpc>
                <a:spcPct val="100000"/>
              </a:lnSpc>
              <a:tabLst>
                <a:tab pos="0" algn="l"/>
              </a:tabLst>
            </a:pPr>
            <a:r>
              <a:rPr lang="en-US" sz="4000" b="0" u="none" strike="noStrike">
                <a:solidFill>
                  <a:schemeClr val="dk1"/>
                </a:solidFill>
                <a:effectLst/>
                <a:uFillTx/>
                <a:latin typeface="Geist"/>
              </a:rPr>
              <a:t>Introduction et définition du projet</a:t>
            </a:r>
            <a:endParaRPr lang="en-US" sz="4000" b="0" u="none" strike="noStrike">
              <a:solidFill>
                <a:srgbClr val="000000"/>
              </a:solidFill>
              <a:effectLst/>
              <a:uFillTx/>
              <a:latin typeface="OpenSymbol"/>
            </a:endParaRPr>
          </a:p>
        </p:txBody>
      </p:sp>
      <p:pic>
        <p:nvPicPr>
          <p:cNvPr id="86" name="image69937e8e3609a" descr="image69937e8e3609f"/>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000" b="0" u="none" strike="noStrike">
                <a:solidFill>
                  <a:schemeClr val="dk1"/>
                </a:solidFill>
                <a:effectLst/>
                <a:uFillTx/>
                <a:latin typeface="Geist"/>
              </a:rPr>
              <a:t>Objectif de la cartoonisation d’image</a:t>
            </a:r>
            <a:endParaRPr lang="en-US" sz="2000" b="0" u="none" strike="noStrike">
              <a:solidFill>
                <a:srgbClr val="000000"/>
              </a:solidFill>
              <a:effectLst/>
              <a:uFillTx/>
              <a:latin typeface="OpenSymbol"/>
            </a:endParaRPr>
          </a:p>
        </p:txBody>
      </p:sp>
      <p:sp>
        <p:nvSpPr>
          <p:cNvPr id="88" name="Rectangle 87"/>
          <p:cNvSpPr/>
          <p:nvPr/>
        </p:nvSpPr>
        <p:spPr>
          <a:xfrm>
            <a:off x="476280" y="1570583"/>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a:bodyPr>
          <a:lstStyle/>
          <a:p>
            <a:pPr>
              <a:lnSpc>
                <a:spcPct val="150000"/>
              </a:lnSpc>
              <a:buNone/>
            </a:pPr>
            <a:r>
              <a:rPr lang="fr-FR" sz="1200" dirty="0"/>
              <a:t>Ce projet vise à transformer automatiquement une photographie en </a:t>
            </a:r>
            <a:r>
              <a:rPr lang="fr-FR" sz="1200" b="1" dirty="0"/>
              <a:t>image de style "cartoon"</a:t>
            </a:r>
            <a:r>
              <a:rPr lang="fr-FR" sz="1200" dirty="0"/>
              <a:t>. L'objectif est de simplifier la structure visuelle en remplaçant les détails complexes par des </a:t>
            </a:r>
            <a:r>
              <a:rPr lang="fr-FR" sz="1200" b="1" dirty="0"/>
              <a:t>aplats de couleurs</a:t>
            </a:r>
            <a:r>
              <a:rPr lang="fr-FR" sz="1200" dirty="0"/>
              <a:t> homogènes et des </a:t>
            </a:r>
            <a:r>
              <a:rPr lang="fr-FR" sz="1200" b="1" dirty="0"/>
              <a:t>contours marqués</a:t>
            </a:r>
            <a:r>
              <a:rPr lang="fr-FR" sz="1200" dirty="0"/>
              <a:t>.</a:t>
            </a:r>
          </a:p>
          <a:p>
            <a:pPr>
              <a:lnSpc>
                <a:spcPct val="150000"/>
              </a:lnSpc>
              <a:buNone/>
            </a:pPr>
            <a:endParaRPr lang="fr-FR" sz="1200" dirty="0"/>
          </a:p>
          <a:p>
            <a:pPr>
              <a:lnSpc>
                <a:spcPct val="150000"/>
              </a:lnSpc>
              <a:buNone/>
            </a:pPr>
            <a:r>
              <a:rPr lang="fr-FR" sz="1200" dirty="0"/>
              <a:t>Cette approche repose sur un pipeline de vision par ordinateur articulé autour de cinq piliers :</a:t>
            </a:r>
          </a:p>
          <a:p>
            <a:pPr>
              <a:lnSpc>
                <a:spcPct val="150000"/>
              </a:lnSpc>
              <a:buNone/>
            </a:pPr>
            <a:endParaRPr lang="fr-FR" sz="1200" dirty="0"/>
          </a:p>
          <a:p>
            <a:pPr marL="171450" indent="-171450">
              <a:lnSpc>
                <a:spcPct val="150000"/>
              </a:lnSpc>
              <a:buFont typeface="Arial" panose="020B0604020202020204" pitchFamily="34" charset="0"/>
              <a:buChar char="•"/>
            </a:pPr>
            <a:r>
              <a:rPr lang="fr-FR" sz="1200" b="1" dirty="0"/>
              <a:t>Prétraitement :</a:t>
            </a:r>
            <a:r>
              <a:rPr lang="fr-FR" sz="1200" dirty="0"/>
              <a:t> Réduction du bruit et lissage (floutage, niveaux de gris).</a:t>
            </a:r>
          </a:p>
          <a:p>
            <a:pPr marL="171450" indent="-171450">
              <a:lnSpc>
                <a:spcPct val="150000"/>
              </a:lnSpc>
              <a:buFont typeface="Arial" panose="020B0604020202020204" pitchFamily="34" charset="0"/>
              <a:buChar char="•"/>
            </a:pPr>
            <a:r>
              <a:rPr lang="fr-FR" sz="1200" b="1" dirty="0"/>
              <a:t>Simplification :</a:t>
            </a:r>
            <a:r>
              <a:rPr lang="fr-FR" sz="1200" dirty="0"/>
              <a:t> Utilisation de l'algorithme </a:t>
            </a:r>
            <a:r>
              <a:rPr lang="fr-FR" sz="1200" b="1" dirty="0"/>
              <a:t>K-</a:t>
            </a:r>
            <a:r>
              <a:rPr lang="fr-FR" sz="1200" b="1" dirty="0" err="1"/>
              <a:t>means</a:t>
            </a:r>
            <a:r>
              <a:rPr lang="fr-FR" sz="1200" dirty="0"/>
              <a:t> pour la quantification des couleurs.</a:t>
            </a:r>
          </a:p>
          <a:p>
            <a:pPr marL="171450" indent="-171450">
              <a:lnSpc>
                <a:spcPct val="150000"/>
              </a:lnSpc>
              <a:buFont typeface="Arial" panose="020B0604020202020204" pitchFamily="34" charset="0"/>
              <a:buChar char="•"/>
            </a:pPr>
            <a:r>
              <a:rPr lang="fr-FR" sz="1200" b="1" dirty="0"/>
              <a:t>Extraction :</a:t>
            </a:r>
            <a:r>
              <a:rPr lang="fr-FR" sz="1200" dirty="0"/>
              <a:t> Détection et renforcement des lignes de contour nettes.</a:t>
            </a:r>
          </a:p>
          <a:p>
            <a:pPr marL="171450" indent="-171450">
              <a:lnSpc>
                <a:spcPct val="150000"/>
              </a:lnSpc>
              <a:buFont typeface="Arial" panose="020B0604020202020204" pitchFamily="34" charset="0"/>
              <a:buChar char="•"/>
            </a:pPr>
            <a:r>
              <a:rPr lang="fr-FR" sz="1200" b="1" dirty="0"/>
              <a:t>Stylisation :</a:t>
            </a:r>
            <a:r>
              <a:rPr lang="fr-FR" sz="1200" dirty="0"/>
              <a:t> Fusion des informations spatiales et colorimétriques.</a:t>
            </a:r>
          </a:p>
          <a:p>
            <a:pPr marL="171450" indent="-171450">
              <a:lnSpc>
                <a:spcPct val="150000"/>
              </a:lnSpc>
              <a:buFont typeface="Arial" panose="020B0604020202020204" pitchFamily="34" charset="0"/>
              <a:buChar char="•"/>
            </a:pPr>
            <a:r>
              <a:rPr lang="fr-FR" sz="1200" b="1" dirty="0"/>
              <a:t>Compétences :</a:t>
            </a:r>
            <a:r>
              <a:rPr lang="fr-FR" sz="1200" dirty="0"/>
              <a:t> Maîtrise des liens entre concepts mathématiques et rendu visuel concret.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Rectangle 88"/>
          <p:cNvSpPr/>
          <p:nvPr/>
        </p:nvSpPr>
        <p:spPr>
          <a:xfrm>
            <a:off x="193288" y="164047"/>
            <a:ext cx="3619080" cy="742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tabLst>
                <a:tab pos="0" algn="l"/>
              </a:tabLst>
            </a:pPr>
            <a:r>
              <a:rPr lang="en-US" sz="2000" b="0" u="none" strike="noStrike" dirty="0">
                <a:solidFill>
                  <a:schemeClr val="dk1"/>
                </a:solidFill>
                <a:effectLst/>
                <a:uFillTx/>
                <a:latin typeface="Geist"/>
              </a:rPr>
              <a:t>2. </a:t>
            </a:r>
            <a:r>
              <a:rPr lang="fr-FR" sz="2000" b="0" u="none" strike="noStrike" dirty="0">
                <a:solidFill>
                  <a:schemeClr val="dk1"/>
                </a:solidFill>
                <a:effectLst/>
                <a:uFillTx/>
                <a:latin typeface="Geist"/>
              </a:rPr>
              <a:t>Type de tâche en Computer Vision</a:t>
            </a:r>
            <a:endParaRPr lang="en-US" sz="2000" b="0" u="none" strike="noStrike" dirty="0">
              <a:solidFill>
                <a:srgbClr val="000000"/>
              </a:solidFill>
              <a:effectLst/>
              <a:uFillTx/>
              <a:latin typeface="OpenSymbol"/>
            </a:endParaRPr>
          </a:p>
        </p:txBody>
      </p:sp>
      <p:sp>
        <p:nvSpPr>
          <p:cNvPr id="90" name="Rectangle 89"/>
          <p:cNvSpPr/>
          <p:nvPr/>
        </p:nvSpPr>
        <p:spPr>
          <a:xfrm>
            <a:off x="193288" y="906967"/>
            <a:ext cx="4192858" cy="34478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0000"/>
          </a:bodyPr>
          <a:lstStyle/>
          <a:p>
            <a:pPr>
              <a:lnSpc>
                <a:spcPct val="150000"/>
              </a:lnSpc>
            </a:pPr>
            <a:r>
              <a:rPr lang="fr-FR" sz="1200" dirty="0"/>
              <a:t>Ce projet se distingue de la classification ou de la détection d'objets : il ne cherche pas à interpréter le contenu, mais à en </a:t>
            </a:r>
            <a:r>
              <a:rPr lang="fr-FR" sz="1200" b="1" dirty="0"/>
              <a:t>restructurer la forme</a:t>
            </a:r>
            <a:r>
              <a:rPr lang="fr-FR" sz="1200" dirty="0"/>
              <a:t>. Il s'articule autour de deux axes techniques majeurs :</a:t>
            </a:r>
          </a:p>
          <a:p>
            <a:pPr marL="171450" indent="-171450">
              <a:lnSpc>
                <a:spcPct val="150000"/>
              </a:lnSpc>
              <a:buFont typeface="Arial" panose="020B0604020202020204" pitchFamily="34" charset="0"/>
              <a:buChar char="•"/>
            </a:pPr>
            <a:r>
              <a:rPr lang="fr-FR" sz="1200" b="1" dirty="0"/>
              <a:t>Segmentation par Clustering :</a:t>
            </a:r>
            <a:r>
              <a:rPr lang="fr-FR" sz="1200" dirty="0"/>
              <a:t> L'algorithme </a:t>
            </a:r>
            <a:r>
              <a:rPr lang="fr-FR" sz="1200" b="1" dirty="0"/>
              <a:t>K-</a:t>
            </a:r>
            <a:r>
              <a:rPr lang="fr-FR" sz="1200" b="1" dirty="0" err="1"/>
              <a:t>means</a:t>
            </a:r>
            <a:r>
              <a:rPr lang="fr-FR" sz="1200" dirty="0"/>
              <a:t> regroupe les pixels par similarité colorimétrique pour créer des aplats uniformes.</a:t>
            </a:r>
          </a:p>
          <a:p>
            <a:pPr marL="171450" indent="-171450">
              <a:lnSpc>
                <a:spcPct val="150000"/>
              </a:lnSpc>
              <a:buFont typeface="Arial" panose="020B0604020202020204" pitchFamily="34" charset="0"/>
              <a:buChar char="•"/>
            </a:pPr>
            <a:r>
              <a:rPr lang="fr-FR" sz="1200" b="1" dirty="0"/>
              <a:t>Extraction Structurelle :</a:t>
            </a:r>
            <a:r>
              <a:rPr lang="fr-FR" sz="1200" dirty="0"/>
              <a:t> La détection de contours identifie les discontinuités d'intensité pour souligner les formes principales.</a:t>
            </a:r>
          </a:p>
          <a:p>
            <a:pPr>
              <a:lnSpc>
                <a:spcPct val="150000"/>
              </a:lnSpc>
            </a:pPr>
            <a:endParaRPr lang="fr-FR" sz="1200" dirty="0"/>
          </a:p>
          <a:p>
            <a:pPr>
              <a:lnSpc>
                <a:spcPct val="150000"/>
              </a:lnSpc>
            </a:pPr>
            <a:r>
              <a:rPr lang="fr-FR" sz="1200" b="1" dirty="0"/>
              <a:t>En résumé :</a:t>
            </a:r>
            <a:r>
              <a:rPr lang="fr-FR" sz="1200" dirty="0"/>
              <a:t> Le projet combine </a:t>
            </a:r>
            <a:r>
              <a:rPr lang="fr-FR" sz="1200" b="1" dirty="0"/>
              <a:t>segmentation spatiale</a:t>
            </a:r>
            <a:r>
              <a:rPr lang="fr-FR" sz="1200" dirty="0"/>
              <a:t> et </a:t>
            </a:r>
            <a:r>
              <a:rPr lang="fr-FR" sz="1200" b="1" dirty="0"/>
              <a:t>détection de bords</a:t>
            </a:r>
            <a:r>
              <a:rPr lang="fr-FR" sz="1200" dirty="0"/>
              <a:t> pour transformer une image brute en une représentation stylisée et simplifiée, sans analyse sémantique.</a:t>
            </a:r>
          </a:p>
        </p:txBody>
      </p:sp>
      <p:pic>
        <p:nvPicPr>
          <p:cNvPr id="91" name="image69937e8e46e3e" descr="image69937e8e46e41"/>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2"/>
          <p:cNvSpPr>
            <a:spLocks noGrp="1"/>
          </p:cNvSpPr>
          <p:nvPr>
            <p:ph type="body"/>
          </p:nvPr>
        </p:nvSpPr>
        <p:spPr>
          <a:xfrm>
            <a:off x="228600" y="228600"/>
            <a:ext cx="8686800" cy="393120"/>
          </a:xfrm>
          <a:prstGeom prst="rect">
            <a:avLst/>
          </a:prstGeom>
          <a:noFill/>
          <a:ln w="0">
            <a:noFill/>
          </a:ln>
        </p:spPr>
        <p:txBody>
          <a:bodyPr lIns="91440" tIns="91440" rIns="91440" bIns="91440" anchor="t">
            <a:normAutofit fontScale="92500" lnSpcReduction="20000"/>
          </a:bodyPr>
          <a:lstStyle/>
          <a:p>
            <a:pPr marL="0" indent="0">
              <a:buNone/>
            </a:pPr>
            <a:r>
              <a:rPr lang="fr-FR" sz="2000" dirty="0"/>
              <a:t>3. Pipeline de Computer Vision </a:t>
            </a:r>
          </a:p>
        </p:txBody>
      </p:sp>
      <p:sp>
        <p:nvSpPr>
          <p:cNvPr id="94" name="PlaceHolder 3"/>
          <p:cNvSpPr>
            <a:spLocks noGrp="1"/>
          </p:cNvSpPr>
          <p:nvPr>
            <p:ph type="sldNum" idx="5"/>
          </p:nvPr>
        </p:nvSpPr>
        <p:spPr>
          <a:prstGeom prst="rect">
            <a:avLst/>
          </a:prstGeom>
          <a:noFill/>
          <a:ln w="0">
            <a:noFill/>
          </a:ln>
        </p:spPr>
        <p:txBody>
          <a:bodyPr lIns="91440" tIns="91440" rIns="91440" bIns="91440" anchor="b">
            <a:spAutoFit/>
          </a:bodyPr>
          <a:lstStyle>
            <a:lvl1pPr indent="0" defTabSz="914400">
              <a:lnSpc>
                <a:spcPct val="100000"/>
              </a:lnSpc>
              <a:buNone/>
              <a:tabLst>
                <a:tab pos="0" algn="l"/>
              </a:tabLst>
              <a:defRPr lang="fr-FR" sz="800" b="1" u="none" strike="noStrike">
                <a:solidFill>
                  <a:schemeClr val="dk1"/>
                </a:solidFill>
                <a:effectLst/>
                <a:uFillTx/>
                <a:latin typeface="Geist Mono"/>
                <a:ea typeface="Geist Mono"/>
              </a:defRPr>
            </a:lvl1pPr>
          </a:lstStyle>
          <a:p>
            <a:pPr indent="0" defTabSz="914400">
              <a:lnSpc>
                <a:spcPct val="100000"/>
              </a:lnSpc>
              <a:buNone/>
              <a:tabLst>
                <a:tab pos="0" algn="l"/>
              </a:tabLst>
            </a:pPr>
            <a:fld id="{4335ECB6-81C5-4A5A-8AED-F6E63E9C87F3}" type="slidenum">
              <a:rPr lang="fr-FR" sz="800" b="1" u="none" strike="noStrike">
                <a:solidFill>
                  <a:schemeClr val="dk1"/>
                </a:solidFill>
                <a:effectLst/>
                <a:uFillTx/>
                <a:latin typeface="Geist Mono"/>
                <a:ea typeface="Geist Mono"/>
              </a:rPr>
              <a:t>6</a:t>
            </a:fld>
            <a:endParaRPr lang="en-US" sz="800" b="0" u="none" strike="noStrike">
              <a:solidFill>
                <a:srgbClr val="000000"/>
              </a:solidFill>
              <a:effectLst/>
              <a:uFillTx/>
              <a:latin typeface="OpenSymbol"/>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FDD7B52-3825-8351-EC55-E86D4EE8EF2C}"/>
                  </a:ext>
                </a:extLst>
              </p:cNvPr>
              <p:cNvSpPr txBox="1"/>
              <p:nvPr/>
            </p:nvSpPr>
            <p:spPr>
              <a:xfrm>
                <a:off x="228600" y="750849"/>
                <a:ext cx="8318810" cy="2274149"/>
              </a:xfrm>
              <a:prstGeom prst="rect">
                <a:avLst/>
              </a:prstGeom>
              <a:noFill/>
            </p:spPr>
            <p:txBody>
              <a:bodyPr wrap="square" rtlCol="0">
                <a:spAutoFit/>
              </a:bodyPr>
              <a:lstStyle/>
              <a:p>
                <a:pPr>
                  <a:lnSpc>
                    <a:spcPct val="150000"/>
                  </a:lnSpc>
                </a:pPr>
                <a:r>
                  <a:rPr lang="fr-FR" sz="1200" dirty="0"/>
                  <a:t>Le processus suit une progression logique en cinq étapes clés pour styliser l'image brute :</a:t>
                </a:r>
              </a:p>
              <a:p>
                <a:pPr marL="171450" indent="-171450">
                  <a:lnSpc>
                    <a:spcPct val="150000"/>
                  </a:lnSpc>
                  <a:buFont typeface="Arial" panose="020B0604020202020204" pitchFamily="34" charset="0"/>
                  <a:buChar char="•"/>
                </a:pPr>
                <a:r>
                  <a:rPr lang="fr-FR" sz="1200" dirty="0"/>
                  <a:t>Acquisition : Chargement de l'image statique via </a:t>
                </a:r>
                <a:r>
                  <a:rPr lang="fr-FR" sz="1200" dirty="0" err="1"/>
                  <a:t>OpenCV</a:t>
                </a:r>
                <a:r>
                  <a:rPr lang="fr-FR" sz="1200" dirty="0"/>
                  <a:t> (entrée du système).</a:t>
                </a:r>
              </a:p>
              <a:p>
                <a:pPr marL="171450" indent="-171450">
                  <a:lnSpc>
                    <a:spcPct val="150000"/>
                  </a:lnSpc>
                  <a:buFont typeface="Arial" panose="020B0604020202020204" pitchFamily="34" charset="0"/>
                  <a:buChar char="•"/>
                </a:pPr>
                <a:r>
                  <a:rPr lang="fr-FR" sz="1200" dirty="0"/>
                  <a:t>Prétraitement : Préparation des données par réduction du bruit (flou médian, filtre bilatéral) et conversion en niveaux de gris pour stabiliser l'information visuelle.</a:t>
                </a:r>
              </a:p>
              <a:p>
                <a:pPr marL="171450" indent="-171450">
                  <a:lnSpc>
                    <a:spcPct val="150000"/>
                  </a:lnSpc>
                  <a:buFont typeface="Arial" panose="020B0604020202020204" pitchFamily="34" charset="0"/>
                  <a:buChar char="•"/>
                </a:pPr>
                <a:r>
                  <a:rPr lang="fr-FR" sz="1200" dirty="0"/>
                  <a:t>Segmentation &amp; Extraction : K-</a:t>
                </a:r>
                <a:r>
                  <a:rPr lang="fr-FR" sz="1200" dirty="0" err="1"/>
                  <a:t>means</a:t>
                </a:r>
                <a:r>
                  <a:rPr lang="fr-FR" sz="1200" dirty="0"/>
                  <a:t> : Regroupement des pixels en </a:t>
                </a:r>
                <a14:m>
                  <m:oMath xmlns:m="http://schemas.openxmlformats.org/officeDocument/2006/math">
                    <m:r>
                      <m:rPr>
                        <m:nor/>
                      </m:rPr>
                      <a:rPr lang="fr-FR" sz="1200" i="0" dirty="0" smtClean="0">
                        <a:latin typeface="Cambria Math" panose="02040503050406030204" pitchFamily="18" charset="0"/>
                      </a:rPr>
                      <m:t>k</m:t>
                    </m:r>
                  </m:oMath>
                </a14:m>
                <a:r>
                  <a:rPr lang="fr-FR" sz="1200" dirty="0"/>
                  <a:t> clusters pour créer des aplats de couleurs.</a:t>
                </a:r>
              </a:p>
              <a:p>
                <a:pPr marL="628650" lvl="1" indent="-171450">
                  <a:lnSpc>
                    <a:spcPct val="150000"/>
                  </a:lnSpc>
                  <a:buFont typeface="Arial" panose="020B0604020202020204" pitchFamily="34" charset="0"/>
                  <a:buChar char="•"/>
                </a:pPr>
                <a:r>
                  <a:rPr lang="fr-FR" sz="1200" dirty="0"/>
                  <a:t>Seuillage adaptatif : Extraction des contours pour souligner les structures.</a:t>
                </a:r>
              </a:p>
              <a:p>
                <a:pPr marL="171450" indent="-171450">
                  <a:lnSpc>
                    <a:spcPct val="150000"/>
                  </a:lnSpc>
                  <a:buFont typeface="Arial" panose="020B0604020202020204" pitchFamily="34" charset="0"/>
                  <a:buChar char="•"/>
                </a:pPr>
                <a:r>
                  <a:rPr lang="fr-FR" sz="1200" dirty="0"/>
                  <a:t>Combinaison : Fusion des aplats de couleurs et du masque de contours par opération logique (</a:t>
                </a:r>
                <a:r>
                  <a:rPr lang="fr-FR" sz="1200" dirty="0" err="1"/>
                  <a:t>bitwise_and</a:t>
                </a:r>
                <a:r>
                  <a:rPr lang="fr-FR" sz="1200" dirty="0"/>
                  <a:t>).</a:t>
                </a:r>
              </a:p>
              <a:p>
                <a:pPr marL="171450" indent="-171450">
                  <a:lnSpc>
                    <a:spcPct val="150000"/>
                  </a:lnSpc>
                  <a:buFont typeface="Arial" panose="020B0604020202020204" pitchFamily="34" charset="0"/>
                  <a:buChar char="•"/>
                </a:pPr>
                <a:r>
                  <a:rPr lang="fr-FR" sz="1200" dirty="0"/>
                  <a:t>Résultat : Production d'une image expressive aux couleurs simplifiées et aux contours nets.</a:t>
                </a:r>
              </a:p>
            </p:txBody>
          </p:sp>
        </mc:Choice>
        <mc:Fallback>
          <p:sp>
            <p:nvSpPr>
              <p:cNvPr id="2" name="TextBox 1">
                <a:extLst>
                  <a:ext uri="{FF2B5EF4-FFF2-40B4-BE49-F238E27FC236}">
                    <a16:creationId xmlns:a16="http://schemas.microsoft.com/office/drawing/2014/main" id="{6FDD7B52-3825-8351-EC55-E86D4EE8EF2C}"/>
                  </a:ext>
                </a:extLst>
              </p:cNvPr>
              <p:cNvSpPr txBox="1">
                <a:spLocks noRot="1" noChangeAspect="1" noMove="1" noResize="1" noEditPoints="1" noAdjustHandles="1" noChangeArrowheads="1" noChangeShapeType="1" noTextEdit="1"/>
              </p:cNvSpPr>
              <p:nvPr/>
            </p:nvSpPr>
            <p:spPr>
              <a:xfrm>
                <a:off x="228600" y="750849"/>
                <a:ext cx="8318810" cy="2274149"/>
              </a:xfrm>
              <a:prstGeom prst="rect">
                <a:avLst/>
              </a:prstGeom>
              <a:blipFill>
                <a:blip r:embed="rId2"/>
                <a:stretch>
                  <a:fillRect l="-73" b="-1072"/>
                </a:stretch>
              </a:blipFill>
            </p:spPr>
            <p:txBody>
              <a:bodyPr/>
              <a:lstStyle/>
              <a:p>
                <a:r>
                  <a:rPr lang="fr-FR">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 name="Google Shape;240;p32"/>
          <p:cNvPicPr/>
          <p:nvPr/>
        </p:nvPicPr>
        <p:blipFill>
          <a:blip r:embed="rId2"/>
          <a:srcRect t="15606"/>
          <a:stretch/>
        </p:blipFill>
        <p:spPr>
          <a:xfrm>
            <a:off x="6348761" y="1913176"/>
            <a:ext cx="2795239" cy="1572329"/>
          </a:xfrm>
          <a:prstGeom prst="rect">
            <a:avLst/>
          </a:prstGeom>
          <a:noFill/>
          <a:ln w="0">
            <a:noFill/>
          </a:ln>
        </p:spPr>
      </p:pic>
      <p:sp>
        <p:nvSpPr>
          <p:cNvPr id="98" name="PlaceHolder 3"/>
          <p:cNvSpPr>
            <a:spLocks noGrp="1"/>
          </p:cNvSpPr>
          <p:nvPr>
            <p:ph type="sldNum" idx="10"/>
          </p:nvPr>
        </p:nvSpPr>
        <p:spPr>
          <a:prstGeom prst="rect">
            <a:avLst/>
          </a:prstGeom>
          <a:noFill/>
          <a:ln w="0">
            <a:noFill/>
          </a:ln>
        </p:spPr>
        <p:txBody>
          <a:bodyPr lIns="91440" tIns="91440" rIns="91440" bIns="91440" anchor="b">
            <a:spAutoFit/>
          </a:bodyPr>
          <a:lstStyle>
            <a:lvl1pPr indent="0" defTabSz="914400">
              <a:lnSpc>
                <a:spcPct val="100000"/>
              </a:lnSpc>
              <a:buNone/>
              <a:tabLst>
                <a:tab pos="0" algn="l"/>
              </a:tabLst>
              <a:defRPr lang="fr-FR" sz="800" b="1" u="none" strike="noStrike">
                <a:solidFill>
                  <a:schemeClr val="dk1"/>
                </a:solidFill>
                <a:effectLst/>
                <a:uFillTx/>
                <a:latin typeface="Geist Mono"/>
                <a:ea typeface="Geist Mono"/>
              </a:defRPr>
            </a:lvl1pPr>
          </a:lstStyle>
          <a:p>
            <a:pPr indent="0" defTabSz="914400">
              <a:lnSpc>
                <a:spcPct val="100000"/>
              </a:lnSpc>
              <a:buNone/>
              <a:tabLst>
                <a:tab pos="0" algn="l"/>
              </a:tabLst>
            </a:pPr>
            <a:fld id="{1A12108B-A993-4212-9464-50E818048FEF}" type="slidenum">
              <a:rPr lang="fr-FR" sz="800" b="1" u="none" strike="noStrike">
                <a:solidFill>
                  <a:schemeClr val="dk1"/>
                </a:solidFill>
                <a:effectLst/>
                <a:uFillTx/>
                <a:latin typeface="Geist Mono"/>
                <a:ea typeface="Geist Mono"/>
              </a:rPr>
              <a:t>7</a:t>
            </a:fld>
            <a:endParaRPr lang="en-US" sz="800" b="0" u="none" strike="noStrike">
              <a:solidFill>
                <a:srgbClr val="000000"/>
              </a:solidFill>
              <a:effectLst/>
              <a:uFillTx/>
              <a:latin typeface="OpenSymbol"/>
            </a:endParaRPr>
          </a:p>
        </p:txBody>
      </p:sp>
      <p:sp>
        <p:nvSpPr>
          <p:cNvPr id="8" name="TextBox 7">
            <a:extLst>
              <a:ext uri="{FF2B5EF4-FFF2-40B4-BE49-F238E27FC236}">
                <a16:creationId xmlns:a16="http://schemas.microsoft.com/office/drawing/2014/main" id="{7BEABDD6-06ED-A626-724A-23985844C859}"/>
              </a:ext>
            </a:extLst>
          </p:cNvPr>
          <p:cNvSpPr txBox="1"/>
          <p:nvPr/>
        </p:nvSpPr>
        <p:spPr>
          <a:xfrm>
            <a:off x="295200" y="139514"/>
            <a:ext cx="3888059" cy="400110"/>
          </a:xfrm>
          <a:prstGeom prst="rect">
            <a:avLst/>
          </a:prstGeom>
          <a:noFill/>
        </p:spPr>
        <p:txBody>
          <a:bodyPr wrap="square" rtlCol="0">
            <a:spAutoFit/>
          </a:bodyPr>
          <a:lstStyle/>
          <a:p>
            <a:r>
              <a:rPr lang="fr-FR" sz="2000" dirty="0"/>
              <a:t>4. Prétraitement des images</a:t>
            </a:r>
          </a:p>
        </p:txBody>
      </p:sp>
      <p:sp>
        <p:nvSpPr>
          <p:cNvPr id="9" name="TextBox 8">
            <a:extLst>
              <a:ext uri="{FF2B5EF4-FFF2-40B4-BE49-F238E27FC236}">
                <a16:creationId xmlns:a16="http://schemas.microsoft.com/office/drawing/2014/main" id="{ADB3065E-98EE-2A49-322C-CF1EA8CCA1F2}"/>
              </a:ext>
            </a:extLst>
          </p:cNvPr>
          <p:cNvSpPr txBox="1"/>
          <p:nvPr/>
        </p:nvSpPr>
        <p:spPr>
          <a:xfrm>
            <a:off x="295200" y="676507"/>
            <a:ext cx="5875141" cy="3936142"/>
          </a:xfrm>
          <a:prstGeom prst="rect">
            <a:avLst/>
          </a:prstGeom>
          <a:noFill/>
        </p:spPr>
        <p:txBody>
          <a:bodyPr wrap="square" rtlCol="0">
            <a:spAutoFit/>
          </a:bodyPr>
          <a:lstStyle/>
          <a:p>
            <a:pPr>
              <a:lnSpc>
                <a:spcPct val="150000"/>
              </a:lnSpc>
            </a:pPr>
            <a:r>
              <a:rPr lang="fr-FR" sz="1200" dirty="0"/>
              <a:t>Le prétraitement stabilise l'image et conditionne la qualité de l'effet "cartoon" via trois opérations ciblées :</a:t>
            </a:r>
          </a:p>
          <a:p>
            <a:pPr>
              <a:lnSpc>
                <a:spcPct val="150000"/>
              </a:lnSpc>
            </a:pPr>
            <a:endParaRPr lang="fr-FR" sz="1200" dirty="0"/>
          </a:p>
          <a:p>
            <a:pPr marL="171450" indent="-171450">
              <a:lnSpc>
                <a:spcPct val="150000"/>
              </a:lnSpc>
              <a:buFont typeface="Arial" panose="020B0604020202020204" pitchFamily="34" charset="0"/>
              <a:buChar char="•"/>
            </a:pPr>
            <a:r>
              <a:rPr lang="fr-FR" sz="1200" dirty="0"/>
              <a:t>Conversion en niveaux de gris : Simplifie l'analyse en se focalisant sur les variations d'intensité lumineuse. Cela facilite la détection des bords en éliminant la complexité chromatique inutile.</a:t>
            </a:r>
          </a:p>
          <a:p>
            <a:pPr marL="171450" indent="-171450">
              <a:lnSpc>
                <a:spcPct val="150000"/>
              </a:lnSpc>
              <a:buFont typeface="Arial" panose="020B0604020202020204" pitchFamily="34" charset="0"/>
              <a:buChar char="•"/>
            </a:pPr>
            <a:r>
              <a:rPr lang="fr-FR" sz="1200" dirty="0"/>
              <a:t>Flou médian : Réduit le bruit visuel tout en préservant les transitions nettes. Contrairement aux flous classiques, il évite la création de "faux contours" lors du seuillage.</a:t>
            </a:r>
          </a:p>
          <a:p>
            <a:pPr marL="171450" indent="-171450">
              <a:lnSpc>
                <a:spcPct val="150000"/>
              </a:lnSpc>
              <a:buFont typeface="Arial" panose="020B0604020202020204" pitchFamily="34" charset="0"/>
              <a:buChar char="•"/>
            </a:pPr>
            <a:r>
              <a:rPr lang="fr-FR" sz="1200" dirty="0"/>
              <a:t>Filtre bilatéral : Appliqué après la quantification, il lisse les surfaces pour créer des aplats homogènes sans dégrader la netteté des formes structurelles.</a:t>
            </a:r>
          </a:p>
          <a:p>
            <a:pPr>
              <a:lnSpc>
                <a:spcPct val="150000"/>
              </a:lnSpc>
            </a:pPr>
            <a:endParaRPr lang="fr-FR" sz="1200" dirty="0"/>
          </a:p>
          <a:p>
            <a:pPr>
              <a:lnSpc>
                <a:spcPct val="150000"/>
              </a:lnSpc>
            </a:pPr>
            <a:r>
              <a:rPr lang="fr-FR" sz="1200" dirty="0"/>
              <a:t>L'essentiel : Ces étapes garantissent un équilibre entre des couleurs épurées et des contours précis, évitant un résultat final bruité ou illisible.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201216" y="134737"/>
            <a:ext cx="8191080" cy="400949"/>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r>
              <a:rPr lang="en-US" sz="2000" b="0" u="none" strike="noStrike" dirty="0">
                <a:solidFill>
                  <a:schemeClr val="dk1"/>
                </a:solidFill>
                <a:effectLst/>
                <a:uFillTx/>
                <a:latin typeface="Geist"/>
              </a:rPr>
              <a:t>5. </a:t>
            </a:r>
            <a:r>
              <a:rPr lang="fr-FR" dirty="0"/>
              <a:t>Extraction de caractéristiques / Segmentation </a:t>
            </a:r>
          </a:p>
        </p:txBody>
      </p:sp>
      <p:sp>
        <p:nvSpPr>
          <p:cNvPr id="101" name="Rectangle 100"/>
          <p:cNvSpPr/>
          <p:nvPr/>
        </p:nvSpPr>
        <p:spPr>
          <a:xfrm>
            <a:off x="201216" y="59671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20000"/>
          </a:bodyPr>
          <a:lstStyle/>
          <a:p>
            <a:pPr>
              <a:lnSpc>
                <a:spcPct val="150000"/>
              </a:lnSpc>
            </a:pPr>
            <a:r>
              <a:rPr lang="fr-FR" sz="1200" dirty="0">
                <a:effectLst/>
              </a:rPr>
              <a:t>Cette étape constitue le cœur analytique du projet, où l'image est décomposée en structures fondamentales et en régions chromatiques simplifiées.</a:t>
            </a:r>
          </a:p>
          <a:p>
            <a:pPr>
              <a:lnSpc>
                <a:spcPct val="150000"/>
              </a:lnSpc>
            </a:pPr>
            <a:r>
              <a:rPr lang="fr-FR" sz="1200" b="1" dirty="0">
                <a:effectLst/>
              </a:rPr>
              <a:t>Analyse de la quantification et des contours :</a:t>
            </a:r>
          </a:p>
          <a:p>
            <a:pPr marL="171450" indent="-171450">
              <a:lnSpc>
                <a:spcPct val="150000"/>
              </a:lnSpc>
              <a:buFont typeface="Arial" panose="020B0604020202020204" pitchFamily="34" charset="0"/>
              <a:buChar char="•"/>
            </a:pPr>
            <a:r>
              <a:rPr lang="fr-FR" sz="1200" b="1" dirty="0">
                <a:effectLst/>
              </a:rPr>
              <a:t>Quantification des couleurs (</a:t>
            </a:r>
            <a:r>
              <a:rPr lang="fr-FR" dirty="0"/>
              <a:t>R3</a:t>
            </a:r>
            <a:r>
              <a:rPr lang="fr-FR" sz="1200" b="1" dirty="0">
                <a:effectLst/>
              </a:rPr>
              <a:t>)</a:t>
            </a:r>
            <a:r>
              <a:rPr lang="fr-FR" sz="1200" dirty="0">
                <a:effectLst/>
              </a:rPr>
              <a:t> : L'algorithme K-</a:t>
            </a:r>
            <a:r>
              <a:rPr lang="fr-FR" sz="1200" dirty="0" err="1">
                <a:effectLst/>
              </a:rPr>
              <a:t>means</a:t>
            </a:r>
            <a:r>
              <a:rPr lang="fr-FR" sz="1200" dirty="0">
                <a:effectLst/>
              </a:rPr>
              <a:t> effectue un clustering non-supervisé dans l'espace des caractéristiques (RGB). Chaque pixel est projeté dans cet espace tridimensionnel pour être rattaché à l'un des </a:t>
            </a:r>
            <a:r>
              <a:rPr lang="fr-FR" i="1" dirty="0"/>
              <a:t>k</a:t>
            </a:r>
            <a:r>
              <a:rPr lang="fr-FR" sz="1200" dirty="0">
                <a:effectLst/>
              </a:rPr>
              <a:t> clusters dominants.</a:t>
            </a:r>
          </a:p>
          <a:p>
            <a:pPr marL="171450" indent="-171450">
              <a:lnSpc>
                <a:spcPct val="150000"/>
              </a:lnSpc>
              <a:buFont typeface="Arial" panose="020B0604020202020204" pitchFamily="34" charset="0"/>
              <a:buChar char="•"/>
            </a:pPr>
            <a:r>
              <a:rPr lang="fr-FR" sz="1200" b="1" dirty="0">
                <a:effectLst/>
              </a:rPr>
              <a:t>Extraction structurelle par seuillage adaptatif</a:t>
            </a:r>
            <a:r>
              <a:rPr lang="fr-FR" sz="1200" dirty="0">
                <a:effectLst/>
              </a:rPr>
              <a:t> : On extrait les discontinuités d'intensité pour générer un masque binaire. Le calcul local permet de maintenir la cohérence des traits malgré les variations de luminosité.</a:t>
            </a:r>
          </a:p>
          <a:p>
            <a:pPr marL="171450" indent="-171450">
              <a:lnSpc>
                <a:spcPct val="150000"/>
              </a:lnSpc>
              <a:buFont typeface="Arial" panose="020B0604020202020204" pitchFamily="34" charset="0"/>
              <a:buChar char="•"/>
            </a:pPr>
            <a:r>
              <a:rPr lang="fr-FR" sz="1200" b="1" dirty="0">
                <a:effectLst/>
              </a:rPr>
              <a:t>Complémentarité des formes d'extraction :</a:t>
            </a:r>
            <a:r>
              <a:rPr lang="fr-FR" sz="1200" dirty="0">
                <a:effectLst/>
              </a:rPr>
              <a:t> Ces deux approches travaillent de concert : le clustering simplifie le contenu chromatique pour créer l'aspect illustratif, tandis que le seuillage maintient la lisibilité structurelle en redessinant les frontières. Cette synergie transforme l'image brute en une représentation organisée, prête pour la mise en œuvre algorithmique.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Rectangle 101"/>
          <p:cNvSpPr/>
          <p:nvPr/>
        </p:nvSpPr>
        <p:spPr>
          <a:xfrm>
            <a:off x="5048280" y="82271"/>
            <a:ext cx="3872696" cy="505027"/>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tabLst>
                <a:tab pos="0" algn="l"/>
              </a:tabLst>
            </a:pPr>
            <a:r>
              <a:rPr lang="en-US" sz="2000" b="0" u="none" strike="noStrike" dirty="0">
                <a:solidFill>
                  <a:schemeClr val="dk1"/>
                </a:solidFill>
                <a:effectLst/>
                <a:uFillTx/>
                <a:latin typeface="Geist"/>
              </a:rPr>
              <a:t>6. </a:t>
            </a:r>
            <a:r>
              <a:rPr lang="fr-FR" sz="2000" dirty="0"/>
              <a:t>Algorithme / Méthode utilisée</a:t>
            </a:r>
            <a:endParaRPr lang="en-US" sz="2000" b="0" u="none" strike="noStrike" dirty="0">
              <a:solidFill>
                <a:srgbClr val="000000"/>
              </a:solidFill>
              <a:effectLst/>
              <a:uFillTx/>
              <a:latin typeface="OpenSymbol"/>
            </a:endParaRPr>
          </a:p>
        </p:txBody>
      </p:sp>
      <p:sp>
        <p:nvSpPr>
          <p:cNvPr id="103" name="Rectangle 102"/>
          <p:cNvSpPr/>
          <p:nvPr/>
        </p:nvSpPr>
        <p:spPr>
          <a:xfrm>
            <a:off x="5048280" y="520390"/>
            <a:ext cx="3619080" cy="4363844"/>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r>
              <a:rPr lang="fr-FR" sz="1200" dirty="0">
                <a:effectLst/>
              </a:rPr>
              <a:t>Le projet mobilise des méthodes classiques mais puissantes, privilégiant l'interprétabilité et le contrôle granulaire de la transformation.</a:t>
            </a:r>
          </a:p>
          <a:p>
            <a:r>
              <a:rPr lang="fr-FR" sz="1200" b="1" dirty="0">
                <a:effectLst/>
              </a:rPr>
              <a:t>Mécanismes algorithmiques :</a:t>
            </a:r>
            <a:endParaRPr lang="fr-FR" sz="1200" dirty="0">
              <a:effectLst/>
            </a:endParaRPr>
          </a:p>
          <a:p>
            <a:r>
              <a:rPr lang="fr-FR" sz="1200" dirty="0">
                <a:effectLst/>
              </a:rPr>
              <a:t>• </a:t>
            </a:r>
            <a:r>
              <a:rPr lang="fr-FR" sz="1200" b="1" dirty="0">
                <a:effectLst/>
              </a:rPr>
              <a:t>K-</a:t>
            </a:r>
            <a:r>
              <a:rPr lang="fr-FR" sz="1200" b="1" dirty="0" err="1">
                <a:effectLst/>
              </a:rPr>
              <a:t>means</a:t>
            </a:r>
            <a:r>
              <a:rPr lang="fr-FR" sz="1200" dirty="0">
                <a:effectLst/>
              </a:rPr>
              <a:t> : L'algorithme traite chaque pixel comme un triplet (R, G, B) dans l'espace </a:t>
            </a:r>
            <a:r>
              <a:rPr lang="fr-FR" sz="1200" dirty="0"/>
              <a:t>R3</a:t>
            </a:r>
            <a:r>
              <a:rPr lang="fr-FR" sz="1200" dirty="0">
                <a:effectLst/>
              </a:rPr>
              <a:t>. En minimisant l'inertie </a:t>
            </a:r>
            <a:r>
              <a:rPr lang="fr-FR" sz="1200" dirty="0" err="1">
                <a:effectLst/>
              </a:rPr>
              <a:t>intra-classe</a:t>
            </a:r>
            <a:r>
              <a:rPr lang="fr-FR" sz="1200" dirty="0">
                <a:effectLst/>
              </a:rPr>
              <a:t>, il regroupe les pixels en </a:t>
            </a:r>
            <a:r>
              <a:rPr lang="fr-FR" sz="1200" i="1" dirty="0"/>
              <a:t>k</a:t>
            </a:r>
            <a:r>
              <a:rPr lang="fr-FR" sz="1200" dirty="0">
                <a:effectLst/>
              </a:rPr>
              <a:t> clusters. La valeur finale de chaque pixel est remplacée par le centroïde (couleur moyenne) de son cluster.</a:t>
            </a:r>
          </a:p>
          <a:p>
            <a:r>
              <a:rPr lang="fr-FR" sz="1200" dirty="0">
                <a:effectLst/>
              </a:rPr>
              <a:t>• </a:t>
            </a:r>
            <a:r>
              <a:rPr lang="fr-FR" sz="1200" b="1" dirty="0">
                <a:effectLst/>
              </a:rPr>
              <a:t>Seuillage adaptatif</a:t>
            </a:r>
            <a:r>
              <a:rPr lang="fr-FR" sz="1200" dirty="0">
                <a:effectLst/>
              </a:rPr>
              <a:t> : Contrairement à un seuil global, cette méthode calcule un seuil pour chaque voisinage spatial. Cela permet de capturer les contours dans les zones d'ombre comme dans les zones de forte lumière.</a:t>
            </a:r>
          </a:p>
          <a:p>
            <a:r>
              <a:rPr lang="fr-FR" sz="1200" dirty="0">
                <a:effectLst/>
              </a:rPr>
              <a:t>• </a:t>
            </a:r>
            <a:r>
              <a:rPr lang="fr-FR" sz="1200" b="1" dirty="0">
                <a:effectLst/>
              </a:rPr>
              <a:t>Opération </a:t>
            </a:r>
            <a:r>
              <a:rPr lang="fr-FR" sz="1200" b="1" dirty="0" err="1">
                <a:effectLst/>
              </a:rPr>
              <a:t>Bitwise</a:t>
            </a:r>
            <a:r>
              <a:rPr lang="fr-FR" sz="1200" dirty="0">
                <a:effectLst/>
              </a:rPr>
              <a:t> : La fusion finale utilise l'opération logique </a:t>
            </a:r>
            <a:r>
              <a:rPr lang="fr-FR" sz="1200" dirty="0" err="1"/>
              <a:t>bitwise_and</a:t>
            </a:r>
            <a:r>
              <a:rPr lang="fr-FR" sz="1200" dirty="0">
                <a:effectLst/>
              </a:rPr>
              <a:t> entre l'image quantifiée et le masque binaire. Le noir du masque (valeur 0) impose le contour, tandis que le blanc laisse apparaître les aplats de couleur.</a:t>
            </a:r>
          </a:p>
          <a:p>
            <a:r>
              <a:rPr lang="fr-FR" sz="1200" dirty="0">
                <a:effectLst/>
              </a:rPr>
              <a:t>La maîtrise des paramètres de ces algorithmes, notamment la gestion du voisinage et le nombre de clusters, est la clé de la réussite esthétique du projet.</a:t>
            </a:r>
          </a:p>
        </p:txBody>
      </p:sp>
      <p:pic>
        <p:nvPicPr>
          <p:cNvPr id="104" name="image69937e8e5a137" descr="image69937e8e5a13a"/>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2"/>
          <p:cNvSpPr>
            <a:spLocks noGrp="1"/>
          </p:cNvSpPr>
          <p:nvPr>
            <p:ph type="body"/>
          </p:nvPr>
        </p:nvSpPr>
        <p:spPr>
          <a:xfrm>
            <a:off x="0" y="0"/>
            <a:ext cx="7265020" cy="579864"/>
          </a:xfrm>
          <a:prstGeom prst="rect">
            <a:avLst/>
          </a:prstGeom>
          <a:noFill/>
          <a:ln w="0">
            <a:noFill/>
          </a:ln>
        </p:spPr>
        <p:txBody>
          <a:bodyPr lIns="91440" tIns="91440" rIns="91440" bIns="91440" anchor="t">
            <a:normAutofit lnSpcReduction="10000"/>
          </a:bodyPr>
          <a:lstStyle/>
          <a:p>
            <a:pPr indent="0" algn="just">
              <a:lnSpc>
                <a:spcPct val="150000"/>
              </a:lnSpc>
              <a:buNone/>
              <a:tabLst>
                <a:tab pos="0" algn="l"/>
              </a:tabLst>
            </a:pPr>
            <a:r>
              <a:rPr lang="en-US" sz="2000" b="0" u="none" strike="noStrike" dirty="0">
                <a:effectLst/>
                <a:uFillTx/>
                <a:latin typeface="OpenSymbol"/>
              </a:rPr>
              <a:t>7. </a:t>
            </a:r>
            <a:r>
              <a:rPr lang="en-US" sz="2000" b="0" u="none" strike="noStrike" dirty="0" err="1">
                <a:effectLst/>
                <a:uFillTx/>
                <a:latin typeface="OpenSymbol"/>
              </a:rPr>
              <a:t>Résultats</a:t>
            </a:r>
            <a:r>
              <a:rPr lang="en-US" sz="2000" b="0" u="none" strike="noStrike" dirty="0">
                <a:effectLst/>
                <a:uFillTx/>
                <a:latin typeface="OpenSymbol"/>
              </a:rPr>
              <a:t> et </a:t>
            </a:r>
            <a:r>
              <a:rPr lang="en-US" sz="2000" b="0" u="none" strike="noStrike" dirty="0" err="1">
                <a:effectLst/>
                <a:uFillTx/>
                <a:latin typeface="OpenSymbol"/>
              </a:rPr>
              <a:t>interprétation</a:t>
            </a:r>
            <a:endParaRPr lang="en-US" sz="2000" b="0" u="none" strike="noStrike" dirty="0">
              <a:effectLst/>
              <a:uFillTx/>
              <a:latin typeface="OpenSymbol"/>
            </a:endParaRPr>
          </a:p>
        </p:txBody>
      </p:sp>
      <p:sp>
        <p:nvSpPr>
          <p:cNvPr id="107" name="PlaceHolder 3"/>
          <p:cNvSpPr>
            <a:spLocks noGrp="1"/>
          </p:cNvSpPr>
          <p:nvPr>
            <p:ph type="sldNum" idx="5"/>
          </p:nvPr>
        </p:nvSpPr>
        <p:spPr>
          <a:prstGeom prst="rect">
            <a:avLst/>
          </a:prstGeom>
          <a:noFill/>
          <a:ln w="0">
            <a:noFill/>
          </a:ln>
        </p:spPr>
        <p:txBody>
          <a:bodyPr lIns="91440" tIns="91440" rIns="91440" bIns="91440" anchor="b">
            <a:spAutoFit/>
          </a:bodyPr>
          <a:lstStyle>
            <a:lvl1pPr indent="0" defTabSz="914400">
              <a:lnSpc>
                <a:spcPct val="100000"/>
              </a:lnSpc>
              <a:buNone/>
              <a:tabLst>
                <a:tab pos="0" algn="l"/>
              </a:tabLst>
              <a:defRPr lang="fr-FR" sz="800" b="1" u="none" strike="noStrike">
                <a:solidFill>
                  <a:schemeClr val="dk1"/>
                </a:solidFill>
                <a:effectLst/>
                <a:uFillTx/>
                <a:latin typeface="Geist Mono"/>
                <a:ea typeface="Geist Mono"/>
              </a:defRPr>
            </a:lvl1pPr>
          </a:lstStyle>
          <a:p>
            <a:pPr indent="0" defTabSz="914400">
              <a:lnSpc>
                <a:spcPct val="100000"/>
              </a:lnSpc>
              <a:buNone/>
              <a:tabLst>
                <a:tab pos="0" algn="l"/>
              </a:tabLst>
            </a:pPr>
            <a:fld id="{AD051DDF-76A8-4B88-986A-BBA4BBA13641}" type="slidenum">
              <a:rPr lang="fr-FR" sz="800" b="1" u="none" strike="noStrike">
                <a:solidFill>
                  <a:schemeClr val="dk1"/>
                </a:solidFill>
                <a:effectLst/>
                <a:uFillTx/>
                <a:latin typeface="Geist Mono"/>
                <a:ea typeface="Geist Mono"/>
              </a:rPr>
              <a:t>10</a:t>
            </a:fld>
            <a:endParaRPr lang="en-US" sz="800" b="0" u="none" strike="noStrike">
              <a:solidFill>
                <a:srgbClr val="000000"/>
              </a:solidFill>
              <a:effectLst/>
              <a:uFillTx/>
              <a:latin typeface="OpenSymbol"/>
            </a:endParaRPr>
          </a:p>
        </p:txBody>
      </p:sp>
      <p:sp>
        <p:nvSpPr>
          <p:cNvPr id="4" name="PlaceHolder 2">
            <a:extLst>
              <a:ext uri="{FF2B5EF4-FFF2-40B4-BE49-F238E27FC236}">
                <a16:creationId xmlns:a16="http://schemas.microsoft.com/office/drawing/2014/main" id="{C1C555C5-048D-4CBB-EFA5-D6D7E79C4F4E}"/>
              </a:ext>
            </a:extLst>
          </p:cNvPr>
          <p:cNvSpPr txBox="1">
            <a:spLocks/>
          </p:cNvSpPr>
          <p:nvPr/>
        </p:nvSpPr>
        <p:spPr>
          <a:xfrm>
            <a:off x="241610" y="579864"/>
            <a:ext cx="7265020" cy="3776546"/>
          </a:xfrm>
          <a:prstGeom prst="rect">
            <a:avLst/>
          </a:prstGeom>
          <a:noFill/>
          <a:ln w="0">
            <a:noFill/>
          </a:ln>
        </p:spPr>
        <p:txBody>
          <a:bodyPr lIns="91440" tIns="91440" rIns="9144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tabLst>
                <a:tab pos="0" algn="l"/>
              </a:tabLst>
            </a:pPr>
            <a:r>
              <a:rPr lang="fr-FR" sz="1200" dirty="0">
                <a:latin typeface="OpenSymbol"/>
              </a:rPr>
              <a:t>L'esthétique finale obtenue est un équilibre entre la perte volontaire de détails texturaux et la conservation rigoureuse des structures essentielles. Le résultat est une image parfaitement reconnaissable mais visuellement purifiée.</a:t>
            </a:r>
          </a:p>
          <a:p>
            <a:pPr algn="just">
              <a:lnSpc>
                <a:spcPct val="150000"/>
              </a:lnSpc>
              <a:tabLst>
                <a:tab pos="0" algn="l"/>
              </a:tabLst>
            </a:pPr>
            <a:r>
              <a:rPr lang="fr-FR" sz="1200" dirty="0">
                <a:latin typeface="OpenSymbol"/>
              </a:rPr>
              <a:t>Influence critique des paramètres sur le rendu :</a:t>
            </a:r>
          </a:p>
          <a:p>
            <a:pPr algn="just">
              <a:lnSpc>
                <a:spcPct val="150000"/>
              </a:lnSpc>
              <a:tabLst>
                <a:tab pos="0" algn="l"/>
              </a:tabLst>
            </a:pPr>
            <a:r>
              <a:rPr lang="fr-FR" sz="1200" dirty="0">
                <a:latin typeface="OpenSymbol"/>
              </a:rPr>
              <a:t>• Valeur de k : Un k faible accentue l'abstraction (aplats marqués), alors qu'un k élevé tend vers le réalisme photographique.</a:t>
            </a:r>
          </a:p>
          <a:p>
            <a:pPr algn="just">
              <a:lnSpc>
                <a:spcPct val="150000"/>
              </a:lnSpc>
              <a:tabLst>
                <a:tab pos="0" algn="l"/>
              </a:tabLst>
            </a:pPr>
            <a:r>
              <a:rPr lang="fr-FR" sz="1200" dirty="0">
                <a:latin typeface="OpenSymbol"/>
              </a:rPr>
              <a:t>• Taille du voisinage spatial : Paramètre clé du seuillage adaptatif qui gère les conditions d'éclairage variables ; une taille mal ajustée peut générer un bruit résiduel important ou omettre des structures vitales.</a:t>
            </a:r>
          </a:p>
          <a:p>
            <a:pPr algn="just">
              <a:lnSpc>
                <a:spcPct val="150000"/>
              </a:lnSpc>
              <a:tabLst>
                <a:tab pos="0" algn="l"/>
              </a:tabLst>
            </a:pPr>
            <a:r>
              <a:rPr lang="fr-FR" sz="1200" dirty="0">
                <a:latin typeface="OpenSymbol"/>
              </a:rPr>
              <a:t>• Paramètres des filtres (Médian/</a:t>
            </a:r>
            <a:r>
              <a:rPr lang="fr-FR" sz="1200" dirty="0" err="1">
                <a:latin typeface="OpenSymbol"/>
              </a:rPr>
              <a:t>Bilateral</a:t>
            </a:r>
            <a:r>
              <a:rPr lang="fr-FR" sz="1200" dirty="0">
                <a:latin typeface="OpenSymbol"/>
              </a:rPr>
              <a:t>) : Déterminent la "propreté" du rendu final et la douceur des transitions chromatiques.</a:t>
            </a:r>
          </a:p>
          <a:p>
            <a:pPr algn="just">
              <a:lnSpc>
                <a:spcPct val="150000"/>
              </a:lnSpc>
              <a:tabLst>
                <a:tab pos="0" algn="l"/>
              </a:tabLst>
            </a:pPr>
            <a:r>
              <a:rPr lang="fr-FR" sz="1200" dirty="0">
                <a:latin typeface="OpenSymbol"/>
              </a:rPr>
              <a:t>La cohérence globale du pipeline est plus déterminante que n'importe quelle étape isolée. C'est l'interaction synergique entre la simplification des couleurs et la force des lignes qui produit l'effet escompté, transitionnant ainsi vers une analyse critique des limites du système.</a:t>
            </a:r>
            <a:endParaRPr lang="en-US" sz="1200" dirty="0">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2"/>
          <p:cNvSpPr>
            <a:spLocks noGrp="1"/>
          </p:cNvSpPr>
          <p:nvPr>
            <p:ph type="body"/>
          </p:nvPr>
        </p:nvSpPr>
        <p:spPr>
          <a:xfrm>
            <a:off x="0" y="0"/>
            <a:ext cx="4653775" cy="535258"/>
          </a:xfrm>
          <a:prstGeom prst="rect">
            <a:avLst/>
          </a:prstGeom>
          <a:noFill/>
          <a:ln w="0">
            <a:noFill/>
          </a:ln>
        </p:spPr>
        <p:txBody>
          <a:bodyPr lIns="91440" tIns="91440" rIns="91440" bIns="91440" anchor="t">
            <a:noAutofit/>
          </a:bodyPr>
          <a:lstStyle/>
          <a:p>
            <a:pPr indent="0" algn="just">
              <a:lnSpc>
                <a:spcPct val="150000"/>
              </a:lnSpc>
              <a:buNone/>
              <a:tabLst>
                <a:tab pos="0" algn="l"/>
              </a:tabLst>
            </a:pPr>
            <a:r>
              <a:rPr lang="fr-FR" sz="2000" dirty="0"/>
              <a:t>8. Limites et pistes d’amélioration</a:t>
            </a:r>
            <a:endParaRPr lang="en-US" sz="2000" b="0" u="none" strike="noStrike" dirty="0">
              <a:effectLst/>
              <a:uFillTx/>
              <a:latin typeface="OpenSymbol"/>
            </a:endParaRPr>
          </a:p>
        </p:txBody>
      </p:sp>
      <p:sp>
        <p:nvSpPr>
          <p:cNvPr id="110" name="PlaceHolder 3"/>
          <p:cNvSpPr>
            <a:spLocks noGrp="1"/>
          </p:cNvSpPr>
          <p:nvPr>
            <p:ph type="sldNum" idx="5"/>
          </p:nvPr>
        </p:nvSpPr>
        <p:spPr>
          <a:prstGeom prst="rect">
            <a:avLst/>
          </a:prstGeom>
          <a:noFill/>
          <a:ln w="0">
            <a:noFill/>
          </a:ln>
        </p:spPr>
        <p:txBody>
          <a:bodyPr lIns="91440" tIns="91440" rIns="91440" bIns="91440" anchor="b">
            <a:spAutoFit/>
          </a:bodyPr>
          <a:lstStyle>
            <a:lvl1pPr indent="0" defTabSz="914400">
              <a:lnSpc>
                <a:spcPct val="100000"/>
              </a:lnSpc>
              <a:buNone/>
              <a:tabLst>
                <a:tab pos="0" algn="l"/>
              </a:tabLst>
              <a:defRPr lang="fr-FR" sz="800" b="1" u="none" strike="noStrike">
                <a:solidFill>
                  <a:schemeClr val="dk1"/>
                </a:solidFill>
                <a:effectLst/>
                <a:uFillTx/>
                <a:latin typeface="Geist Mono"/>
                <a:ea typeface="Geist Mono"/>
              </a:defRPr>
            </a:lvl1pPr>
          </a:lstStyle>
          <a:p>
            <a:pPr indent="0" defTabSz="914400">
              <a:lnSpc>
                <a:spcPct val="100000"/>
              </a:lnSpc>
              <a:buNone/>
              <a:tabLst>
                <a:tab pos="0" algn="l"/>
              </a:tabLst>
            </a:pPr>
            <a:fld id="{7C669965-0D28-462D-9BB2-1323A8F11AE3}" type="slidenum">
              <a:rPr lang="fr-FR" sz="800" b="1" u="none" strike="noStrike">
                <a:solidFill>
                  <a:schemeClr val="dk1"/>
                </a:solidFill>
                <a:effectLst/>
                <a:uFillTx/>
                <a:latin typeface="Geist Mono"/>
                <a:ea typeface="Geist Mono"/>
              </a:rPr>
              <a:t>11</a:t>
            </a:fld>
            <a:endParaRPr lang="en-US" sz="800" b="0" u="none" strike="noStrike">
              <a:solidFill>
                <a:srgbClr val="000000"/>
              </a:solidFill>
              <a:effectLst/>
              <a:uFillTx/>
              <a:latin typeface="OpenSymbol"/>
            </a:endParaRPr>
          </a:p>
        </p:txBody>
      </p:sp>
      <p:sp>
        <p:nvSpPr>
          <p:cNvPr id="2" name="PlaceHolder 2">
            <a:extLst>
              <a:ext uri="{FF2B5EF4-FFF2-40B4-BE49-F238E27FC236}">
                <a16:creationId xmlns:a16="http://schemas.microsoft.com/office/drawing/2014/main" id="{3BC7DBB5-8ED5-1DE0-14BB-9FD0F47FA11C}"/>
              </a:ext>
            </a:extLst>
          </p:cNvPr>
          <p:cNvSpPr txBox="1">
            <a:spLocks/>
          </p:cNvSpPr>
          <p:nvPr/>
        </p:nvSpPr>
        <p:spPr>
          <a:xfrm>
            <a:off x="228600" y="535258"/>
            <a:ext cx="8627327" cy="4244898"/>
          </a:xfrm>
          <a:prstGeom prst="rect">
            <a:avLst/>
          </a:prstGeom>
          <a:noFill/>
          <a:ln w="0">
            <a:noFill/>
          </a:ln>
        </p:spPr>
        <p:txBody>
          <a:bodyPr lIns="91440" tIns="91440" rIns="9144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fr-FR" sz="1200" dirty="0">
                <a:effectLst/>
              </a:rPr>
              <a:t>L'approche actuelle est intrinsèquement heuristique : elle repose sur des propriétés visuelles (intensité, couleur) sans compréhension sémantique de la scène. Elle reste donc sensible à la complexité et au contraste des images sources.</a:t>
            </a:r>
          </a:p>
          <a:p>
            <a:pPr>
              <a:lnSpc>
                <a:spcPct val="150000"/>
              </a:lnSpc>
            </a:pPr>
            <a:r>
              <a:rPr lang="fr-FR" sz="1200" b="1" dirty="0">
                <a:effectLst/>
              </a:rPr>
              <a:t>Le point critique : K-</a:t>
            </a:r>
            <a:r>
              <a:rPr lang="fr-FR" sz="1200" b="1" dirty="0" err="1">
                <a:effectLst/>
              </a:rPr>
              <a:t>means</a:t>
            </a:r>
            <a:r>
              <a:rPr lang="fr-FR" sz="1200" b="1" dirty="0">
                <a:effectLst/>
              </a:rPr>
              <a:t> et le choix de </a:t>
            </a:r>
            <a:r>
              <a:rPr lang="fr-FR" sz="1200" i="1" dirty="0"/>
              <a:t>k</a:t>
            </a:r>
            <a:r>
              <a:rPr lang="fr-FR" sz="1200" dirty="0">
                <a:effectLst/>
              </a:rPr>
              <a:t> L'étape de quantification est le principal point de défaillance ou de succès. Le choix de </a:t>
            </a:r>
            <a:r>
              <a:rPr lang="fr-FR" sz="1200" i="1" dirty="0"/>
              <a:t>k</a:t>
            </a:r>
            <a:r>
              <a:rPr lang="fr-FR" sz="1200" dirty="0">
                <a:effectLst/>
              </a:rPr>
              <a:t> est le "</a:t>
            </a:r>
            <a:r>
              <a:rPr lang="fr-FR" sz="1200" dirty="0" err="1">
                <a:effectLst/>
              </a:rPr>
              <a:t>tipping</a:t>
            </a:r>
            <a:r>
              <a:rPr lang="fr-FR" sz="1200" dirty="0">
                <a:effectLst/>
              </a:rPr>
              <a:t> point" : un paramétrage fixe ne peut s'adapter à toutes les diversités de scènes, pouvant entraîner soit une perte d'information vitale, soit un manque de stylisation.</a:t>
            </a:r>
          </a:p>
          <a:p>
            <a:pPr>
              <a:lnSpc>
                <a:spcPct val="150000"/>
              </a:lnSpc>
            </a:pPr>
            <a:r>
              <a:rPr lang="fr-FR" sz="1200" b="1" dirty="0">
                <a:effectLst/>
              </a:rPr>
              <a:t>Pistes d'amélioration stratégiques :</a:t>
            </a:r>
            <a:endParaRPr lang="fr-FR" sz="1200" dirty="0">
              <a:effectLst/>
            </a:endParaRPr>
          </a:p>
          <a:p>
            <a:pPr>
              <a:lnSpc>
                <a:spcPct val="150000"/>
              </a:lnSpc>
            </a:pPr>
            <a:r>
              <a:rPr lang="fr-FR" sz="1200" dirty="0">
                <a:effectLst/>
              </a:rPr>
              <a:t>• </a:t>
            </a:r>
            <a:r>
              <a:rPr lang="fr-FR" sz="1200" b="1" dirty="0">
                <a:effectLst/>
              </a:rPr>
              <a:t>Espace couleur </a:t>
            </a:r>
            <a:r>
              <a:rPr lang="fr-FR" sz="1200" b="1" dirty="0" err="1">
                <a:effectLst/>
              </a:rPr>
              <a:t>Lab</a:t>
            </a:r>
            <a:r>
              <a:rPr lang="fr-FR" sz="1200" dirty="0">
                <a:effectLst/>
              </a:rPr>
              <a:t> : Utiliser un espace perceptuel pour séparer la luminance de la chrominance, permettant un clustering plus naturel et fidèle à la perception humaine.</a:t>
            </a:r>
          </a:p>
          <a:p>
            <a:pPr>
              <a:lnSpc>
                <a:spcPct val="150000"/>
              </a:lnSpc>
            </a:pPr>
            <a:r>
              <a:rPr lang="fr-FR" sz="1200" dirty="0">
                <a:effectLst/>
              </a:rPr>
              <a:t>• </a:t>
            </a:r>
            <a:r>
              <a:rPr lang="fr-FR" sz="1200" b="1" dirty="0">
                <a:effectLst/>
              </a:rPr>
              <a:t>Segmentation spatiale avancée</a:t>
            </a:r>
            <a:r>
              <a:rPr lang="fr-FR" sz="1200" dirty="0">
                <a:effectLst/>
              </a:rPr>
              <a:t> : Intégrer les coordonnées spatiales </a:t>
            </a:r>
            <a:r>
              <a:rPr lang="fr-FR" sz="1200" dirty="0"/>
              <a:t>(</a:t>
            </a:r>
            <a:r>
              <a:rPr lang="fr-FR" sz="1200" i="1" dirty="0" err="1"/>
              <a:t>x</a:t>
            </a:r>
            <a:r>
              <a:rPr lang="fr-FR" sz="1200" dirty="0" err="1"/>
              <a:t>,</a:t>
            </a:r>
            <a:r>
              <a:rPr lang="fr-FR" sz="1200" i="1" dirty="0" err="1"/>
              <a:t>y</a:t>
            </a:r>
            <a:r>
              <a:rPr lang="fr-FR" sz="1200" dirty="0"/>
              <a:t>)</a:t>
            </a:r>
            <a:r>
              <a:rPr lang="fr-FR" sz="1200" dirty="0">
                <a:effectLst/>
              </a:rPr>
              <a:t> dans le clustering pour garantir la cohérence géographique des aplats.</a:t>
            </a:r>
          </a:p>
          <a:p>
            <a:pPr>
              <a:lnSpc>
                <a:spcPct val="150000"/>
              </a:lnSpc>
            </a:pPr>
            <a:r>
              <a:rPr lang="fr-FR" sz="1200" dirty="0">
                <a:effectLst/>
              </a:rPr>
              <a:t>• </a:t>
            </a:r>
            <a:r>
              <a:rPr lang="fr-FR" sz="1200" b="1" dirty="0">
                <a:effectLst/>
              </a:rPr>
              <a:t>Réseaux neuronaux / Style Transfer</a:t>
            </a:r>
            <a:r>
              <a:rPr lang="fr-FR" sz="1200" dirty="0">
                <a:effectLst/>
              </a:rPr>
              <a:t> : Migrer vers des approches de Deep Learning pour une transformation artistique robuste et moins dépendante des réglages manuels.</a:t>
            </a:r>
          </a:p>
          <a:p>
            <a:pPr>
              <a:lnSpc>
                <a:spcPct val="150000"/>
              </a:lnSpc>
            </a:pPr>
            <a:r>
              <a:rPr lang="fr-FR" sz="1200" dirty="0">
                <a:effectLst/>
              </a:rPr>
              <a:t>• </a:t>
            </a:r>
            <a:r>
              <a:rPr lang="fr-FR" sz="1200" b="1" dirty="0">
                <a:effectLst/>
              </a:rPr>
              <a:t>Évaluation quantitative</a:t>
            </a:r>
            <a:r>
              <a:rPr lang="fr-FR" sz="1200" dirty="0">
                <a:effectLst/>
              </a:rPr>
              <a:t> : Intégrer des métriques perceptuelles pour évaluer scientifiquement la qualité du rendu final.</a:t>
            </a:r>
          </a:p>
          <a:p>
            <a:pPr>
              <a:lnSpc>
                <a:spcPct val="150000"/>
              </a:lnSpc>
            </a:pPr>
            <a:r>
              <a:rPr lang="fr-FR" sz="1200" dirty="0">
                <a:effectLst/>
              </a:rPr>
              <a:t>En conclusion, malgré sa base classique, cette méthode offre un contrôle précis et interprétable sur la transformation artistique, constituant un socle solide pour l'automatisation du rendu non-photoréaliste.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EB001-1B50-0D30-0ACB-3B4F4FA7FF4F}"/>
              </a:ext>
            </a:extLst>
          </p:cNvPr>
          <p:cNvSpPr>
            <a:spLocks noGrp="1"/>
          </p:cNvSpPr>
          <p:nvPr>
            <p:ph type="title"/>
          </p:nvPr>
        </p:nvSpPr>
        <p:spPr>
          <a:xfrm>
            <a:off x="228600" y="2116873"/>
            <a:ext cx="8686800" cy="780840"/>
          </a:xfrm>
        </p:spPr>
        <p:txBody>
          <a:bodyPr/>
          <a:lstStyle/>
          <a:p>
            <a:pPr algn="ctr"/>
            <a:r>
              <a:rPr lang="fr-FR" dirty="0"/>
              <a:t>PHASE TEST</a:t>
            </a:r>
          </a:p>
        </p:txBody>
      </p:sp>
    </p:spTree>
    <p:extLst>
      <p:ext uri="{BB962C8B-B14F-4D97-AF65-F5344CB8AC3E}">
        <p14:creationId xmlns:p14="http://schemas.microsoft.com/office/powerpoint/2010/main" val="2034073540"/>
      </p:ext>
    </p:extLst>
  </p:cSld>
  <p:clrMapOvr>
    <a:masterClrMapping/>
  </p:clrMapOvr>
</p:sld>
</file>

<file path=ppt/theme/theme1.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TotalTime>
  <Words>1349</Words>
  <Application>Microsoft Office PowerPoint</Application>
  <PresentationFormat>On-screen Show (16:9)</PresentationFormat>
  <Paragraphs>77</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Calibri</vt:lpstr>
      <vt:lpstr>Cambria Math</vt:lpstr>
      <vt:lpstr>Geist</vt:lpstr>
      <vt:lpstr>Geist Light</vt:lpstr>
      <vt:lpstr>Geist Mono</vt:lpstr>
      <vt:lpstr>OpenSymbol</vt:lpstr>
      <vt:lpstr>Symbol</vt:lpstr>
      <vt:lpstr>Wingdings</vt:lpstr>
      <vt:lpstr>Slidesgo Final Pages</vt:lpstr>
      <vt:lpstr>Application du K-means comme moyen de classification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PHASE TEST</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Yves Kate</cp:lastModifiedBy>
  <cp:revision>15</cp:revision>
  <dcterms:modified xsi:type="dcterms:W3CDTF">2026-02-16T22:18:38Z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2026-02-16T20:31:02Z</dcterms:created>
  <dc:creator>Unknown Creator</dc:creator>
  <dc:description/>
  <dc:language>en-US</dc:language>
  <cp:lastModifiedBy>Unknown Creator</cp:lastModifiedBy>
  <dcterms:modified xsi:type="dcterms:W3CDTF">2026-02-16T20:31:02Z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